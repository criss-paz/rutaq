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ingeniero Samuel Gómez y compañeros. Hoy les presentamos la solución al Proyecto II de Investigación de Operaciones: el Sistema de Optimización de Rutas Departamentales y Red Troncal Mínima para la empresa Transporte Express, desarrollado sobre nuestra plataforma web RutaQ. El equipo está integrado por Cristopher Alexis Castellanos Paz, Leonel Taracena Marroquín y Pablo Alexander Vásquez Rivera, estudiantes del 6.º semestre de Ingeniería en Sistemas de la Universidad Mariano Gálvez de Guatemala.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Transporte Express es una compañía guatemalteca de logística que distribuye encomiendas a nivel nacional. La problemática central era que sus paquetes llegaban sistemáticamente tarde a destino debido a la falta de planificación. Los conductores tomaban rutas empíricas o hábitos individuales con desvíos innecesarios, sin contar con una red vial cuantificada con distancias reales ni una herramienta automatizada de despacho.</a:t>
            </a:r>
          </a:p>
          <a:p/>
          <a:p>
            <a:r>
              <a:t>El enunciado del Proyecto II solicita ingresar los 22 departamentos, registrar carreteras con kilometrajes reales, responder a las preguntas clave de dónde está el paquete y hacia dónde va, y presentar la ruta más corta de manera clara, visual y matemáticamente respaldada.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resolver el problema con rigor científico, modelamos la red vial de Guatemala como un grafo no dirigido ponderado y conexo G = (V, E, W). Contamos con 22 vértices que corresponden a las cabeceras departamentales oficiales con coordenadas georreferenciadas exactas en proyección Web Mercator con orientación norte-arriba.</a:t>
            </a:r>
          </a:p>
          <a:p/>
          <a:p>
            <a:r>
              <a:t>Para definir las carreteras directas aplicamos un criterio objetivo y reproducible: los departamentos deben compartir frontera territorial y la carretera no debe cruzar a menos de 2 km de otra cabecera intermedia. De este modo descartamos conexiones compuestas o atajos irreales (como JAL-ZAC y PET-QUI), obteniendo 49 aristas directas con pesos estrictamente positivos correspondientes a distancias reales de conducción en kilómetros.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aspecto fundamental de nuestro trabajo fue garantizar que los datos fueran 100 % reales y auditables. Extrajimos las distancias y geometrías mediante el motor OSRM sobre OpenStreetMap y validamos manualmente las 49 carreteras frente a Google Maps. El resultado fue contundente: 35 tramos con coincidencia idéntica, 9 con variación menor a 2 km y 5 con ajustes documentados por trazados urbanos o libramientos recientes.</a:t>
            </a:r>
          </a:p>
          <a:p/>
          <a:p>
            <a:r>
              <a:t>Un hallazgo crítico fue la arista Izabal–Petén de 287.0 km por la CA-13: sin esta arteria troncal directa, cualquier algoritmo desviaría absurdamente los viajes por Alta Verapaz aumentando cientos de kilómetros innecesarios. Cada número en nuestro sistema proviene de carreteras reales de Guatemala.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calcular la mejor ruta para cada paquete implementamos el Algoritmo de Dijkstra. Su funcionamiento se basa en una estrategia voraz o greedy: a partir de la cabecera origen, examina las aristas adyacentes y relaja las distancias tentativas hacia los vecinos. Gracias a una cola de prioridad basada en min-heap binario, su complejidad temporal es de O((V+E) log V), resolviendo cualquier consulta en menos de 5 milisegundos en el navegador.</a:t>
            </a:r>
          </a:p>
          <a:p/>
          <a:p>
            <a:r>
              <a:t>Es crucial enfatizar que Dijkstra exige pesos estrictamente no negativos (W &gt; 0), lo cual se cumple naturalmente en distancias físicas de carreteras. Si existieran costos negativos o subsidios compensatorios, Dijkstra fallaría al fijar nodos permanentemente, obligando a usar algoritmos como Bellman-Ford.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Veamos nuestro primer caso de demostración: un envío transversal de costa a costa, desde Quetzaltenango en el altiplano occidental hasta Puerto Barrios, Izabal en el litoral atlántico.</a:t>
            </a:r>
          </a:p>
          <a:p/>
          <a:p>
            <a:r>
              <a:t>El sistema determina una distancia óptima de 494.0 km a través de 5 tramos interdepartamentales: sale de Quetzaltenango por la RN-01 a Totonicapán (28.8 km), avanza a Quiché (36.2 km), enlaza por Baja Verapaz (128.6 km) y Zacapa (128.3 km), y se incorpora a la CA-9 Norte hasta Puerto Barrios (172.1 km). La interfaz no solo resalta la ruta en púrpura en el mapa interactivo, sino que desglosa cada tramo con su nomenclatura oficial y presenta la fórmula aritmética explícita de la suma para total transparencia.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segundo ejemplo resolvemos el corredor norte: Ciudad de Guatemala a Flores, Petén. La ruta óptima es de 415.3 km recorriendo la CA-14 hacia Cobán y empalmando directamente con Petén a través de la Franja Transversal del Norte (RD PET-11, 257.3 km). El sistema preserva la geografía real norte-arriba sin deformación.</a:t>
            </a:r>
          </a:p>
          <a:p/>
          <a:p>
            <a:r>
              <a:t>En el tercer ejemplo conectamos el extremo occidental fronterizo de San Marcos con Jutiapa en el oriente, cruzando el país por la costa sur con un total de 368.3 km: desciende por la CITO-180 hacia Mazatenango, conecta con Escuintla y Santa Rosa por la CA-2 Occidente y culmina en Jutiapa por la CA-1 Oriente. Ambas rutas demuestran que el sistema encuentra de forma infalible la distancia mínima.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Además de calcular rutas para paquetes individuales, Transporte Express requería planificar su infraestructura: ¿cuál es la red vial mínima que mantiene conectados los 22 departamentos con el menor kilometraje total? Esto se modela con el Árbol de Expansión Mínima (AEM).</a:t>
            </a:r>
          </a:p>
          <a:p/>
          <a:p>
            <a:r>
              <a:t>En RutaQ implementamos tanto el Algoritmo de Prim como el de Kruskal con Union-Find para evitar ciclos. Ambos algoritmos convergen con precisión determinista en una red de exactamente 21 carreteras y 1 425.3 km.</a:t>
            </a:r>
          </a:p>
          <a:p/>
          <a:p>
            <a:r>
              <a:t>La diferencia conceptual es clave: la Ruta Más Corta de Dijkstra optimiza el trayecto individual entre dos puntos, mientras que el AEM optimiza el costo global de la red completa interconectando la totalidad del territorio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RutaQ no es un prototipo estático, sino un sistema web interactivo de nivel profesional. Cuenta con cuatro módulos centrales:</a:t>
            </a:r>
          </a:p>
          <a:p/>
          <a:p>
            <a:r>
              <a:t>1. El Asistente guiado de Transporte Express en dos pasos («¿Dónde está el paquete?» y «¿A qué departamento debe entregarse?»).</a:t>
            </a:r>
          </a:p>
          <a:p>
            <a:r>
              <a:t>2. Un Administrador de Red completo para agregar, editar o deshabilitar departamentos y carreteras con validación de conexidad en tiempo real.</a:t>
            </a:r>
          </a:p>
          <a:p>
            <a:r>
              <a:t>3. Tablas pedagógicas paso a paso que replican la metodología vista en clase para Prim, Kruskal, Dijkstra y Floyd-Warshall.</a:t>
            </a:r>
          </a:p>
          <a:p>
            <a:r>
              <a:t>4. Un Modo Presentación panorámico integrado, optimizado para proyectores de aula y pantallas táctiles móviles.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confiabilidad de nuestro sistema está respaldada por una verificación computacional rigurosa. Contrastamos el 100 % de los caminos mínimos y árboles de expansión contra la biblioteca científica NetworkX en Python: 1 168 de 1 168 pares analizados (incluyendo los 484 pares de Guatemala y grafos de control) arrojaron idénticos resultados con cero discrepancias, y 10 de 10 instancias de AEM fueron idénticas.</a:t>
            </a:r>
          </a:p>
          <a:p/>
          <a:p>
            <a:r>
              <a:t>En aseguramiento de calidad de software, ejecutamos 148 pruebas automatizadas End-to-End con Playwright en 4 dispositivos y motores de renderizado (Chromium, WebKit, Firefox y vista móvil) con 100 % de éxito. Finalmente, la auditoría oficial de Google Lighthouse certificó un rendimiento de 91, accesibilidad de 95, mejores prácticas de 100 y SEO de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conclusión, el proyecto demuestra el poder de la Investigación de Operaciones aplicada a la logística real:</a:t>
            </a:r>
          </a:p>
          <a:p/>
          <a:p>
            <a:r>
              <a:t>1. Transporte Express erradica la improvisación de rutas sustituyendo la intuición por algoritmos deterministas.</a:t>
            </a:r>
          </a:p>
          <a:p>
            <a:r>
              <a:t>2. El modelo matemático está fundamentado en datos reales de los 22 departamentos y 49 carreteras auditadas.</a:t>
            </a:r>
          </a:p>
          <a:p>
            <a:r>
              <a:t>3. Se integraron sinérgicamente Dijkstra para el despacho diario y Prim/Kruskal para la planeación de la red troncal (1 425.3 km).</a:t>
            </a:r>
          </a:p>
          <a:p>
            <a:r>
              <a:t>4. El código en TypeScript es modular, robusto y validado contra bibliotecas científicas de la industria, cumpliendo con creces los requerimientos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Muchas gracias catedrático y compañeros por su tiempo y atención. El sistema se encuentra completamente desplegado y operativo en la web para que cualquiera pueda probarlo en su teléfono o computadora en criss-paz.github.io/rutaq/, y la versión web de estas diapositivas está en /presentacion/.</a:t>
            </a:r>
          </a:p>
          <a:p/>
          <a:p>
            <a:r>
              <a:t>El código fuente completo y los reportes de verificación están abiertos en GitHub. Quedamos a su entera disposición para responder cualquier pregunta o realizar las pruebas de ruta en vivo que deseen solicitar.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051560"/>
            <a:ext cx="5669280" cy="310896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3B82F6"/>
                </a:solidFill>
                <a:latin typeface="Segoe UI"/>
              </a:defRPr>
            </a:pPr>
            <a:r>
              <a:t>UNIVERSIDAD MARIANO GÁLVEZ DE GUATEMALA · INGENIERÍA EN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10B981"/>
                </a:solidFill>
                <a:latin typeface="Segoe UI"/>
              </a:defRPr>
            </a:pPr>
            <a:r>
              <a:t>Transporte Express — Ruta Más Corta</a:t>
            </a:r>
          </a:p>
          <a:p>
            <a:pPr>
              <a:defRPr sz="1700">
                <a:solidFill>
                  <a:srgbClr val="E2E8F0"/>
                </a:solidFill>
                <a:latin typeface="Segoe UI"/>
              </a:defRPr>
            </a:pPr>
            <a:r>
              <a:t>Optimización de Rutas Departamentales y Red Troncal Mínima (RutaQ)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47548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DATOS ACADÉMICOS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Curso: Investigación de Operaciones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Catedrático: Ing. Samuel Isaac Gómez Moreno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Semestre: 6.º semestre, Sección A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Fecha: Sábado 31 de octubre de 2026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Plataforma: https://criss-paz.github.io/rutaq/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88920"/>
            <a:ext cx="46634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INTEGRANTES DEL EQUIPO</a:t>
            </a:r>
          </a:p>
          <a:p>
            <a:pPr>
              <a:defRPr sz="1350" b="1">
                <a:solidFill>
                  <a:srgbClr val="F8FAFC"/>
                </a:solidFill>
                <a:latin typeface="Segoe UI"/>
              </a:defRPr>
            </a:pPr>
            <a:r>
              <a:t>• Cristopher Alexis Castellanos Paz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   Carné: 2690-24-5972</a:t>
            </a:r>
          </a:p>
          <a:p>
            <a:pPr>
              <a:defRPr sz="1350" b="1">
                <a:solidFill>
                  <a:srgbClr val="F8FAFC"/>
                </a:solidFill>
                <a:latin typeface="Segoe UI"/>
              </a:defRPr>
            </a:pPr>
            <a:r>
              <a:t>• Leonel Taracena Marroquín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   Carné: 2690-24-4072</a:t>
            </a:r>
          </a:p>
          <a:p>
            <a:pPr>
              <a:defRPr sz="1350" b="1">
                <a:solidFill>
                  <a:srgbClr val="F8FAFC"/>
                </a:solidFill>
                <a:latin typeface="Segoe UI"/>
              </a:defRPr>
            </a:pPr>
            <a:r>
              <a:t>• Pablo Alexander Vásquez Rivera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   Carné: 2690-24-13123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6235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22 Cabeceras Departamentales · 49 Carreteras Directas · Algoritmos: Dijkstra, Prim y Kruskal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DIAGNÓSTICO Y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El Problema: Retrasos en Envíos Nacionales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Causas operativas en Transporte Express y especificaciones del Proyecto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194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PROBLEMÁTICA EN TRANSPORTE EXPRESS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Paquetes que llegan tarde sistemáticamente a su destino.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Rutas elegidas por intuición o hábitos individuales sin sustento matemático.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Desvíos innecesarios que provocan sobrecosto de combustible y desgaste de flota.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Inexistencia de una red vial digitalizada y cuantificada en distancias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120640" cy="2194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REQUERIMIENTOS FORMALES DEL ENUNCIADO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1. Ingresar los 22 departamentos con cabeceras y coordenadas georreferenciadas.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2. Registrar carreteras interdepartamentales con distancias reales en kilómetros.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3. Preguntar interactivamente: ¿Dónde está el paquete? y ¿A dónde debe entregarse?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• 4. Calcular y exhibir la mejor ruta con desglose de tramos y fórmula matemática.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pantalla-inicio-guatem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1: Vista general de RutaQ orientada al norte con los 22 departamentos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MODELADO MATEMÁTICO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Modelo: Grafo No Dirigido Ponderado G = (V, E, 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Abstracción determinista de la red vial nacional y criterios de conectividad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13716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V = 22 Vértices (Cabeceras Departamentales)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Coordenadas georreferenciadas oficiales (latitud/longitud) proyectadas en Web Mercator.</a:t>
            </a:r>
            <a:br/>
            <a:r>
              <a:t>• Códigos canónicos inmutables de 3 letras (GUA, QUE, PET, IZA, SMA,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120640" cy="16002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 = 49 Aristas Directas entre Vecinos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Vecindad Territorial: Frontera geográfica compartida (contacto ≤ 200 m).</a:t>
            </a:r>
            <a:br/>
            <a:r>
              <a:t>• Umbral de Paso: No cruzar a &lt; 2.0 km de otra cabecera intermedia.</a:t>
            </a:r>
            <a:br/>
            <a:r>
              <a:t>• Descarte Auditado: JAL–ZAC y PET–QUI descartadas formalmente por violar umbral.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5120640" cy="13258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W(e) Pesos: Kilometraje Real de Conducción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Distancias físicas estrictamente positivas (W &gt; 0).</a:t>
            </a:r>
            <a:br/>
            <a:r>
              <a:t>• Nomenclatura vial oficial nacional (CA-1, CA-9, RN-15, FTN).</a:t>
            </a:r>
            <a:br/>
            <a:r>
              <a:t>• Grafo 100 % conexo: existe ruta entre cualquier par de cabeceras.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pantalla-inicio-guatem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2: Grafo completo: 22 cabeceras departamentales y 49 carreteras directas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PRECISIÓN Y METODOLOGÍA CARTOGRÁFICA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Datos Reales y Auditoría Geográfica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Extracción satelital con OSRM/OpenStreetMap y verificación al 100 % en Google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600200" cy="10972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138074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35 / 49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Coincidencia Idéntica</a:t>
            </a:r>
            <a:br/>
            <a:r>
              <a:t>(Δ = 0 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783080"/>
            <a:ext cx="1600200" cy="10972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6896" y="1856232"/>
            <a:ext cx="138074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9 / 49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Variación Mínima</a:t>
            </a:r>
            <a:br/>
            <a:r>
              <a:t>(Δ ≤ 2 km)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816" y="1783080"/>
            <a:ext cx="1600200" cy="10972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856232"/>
            <a:ext cx="138074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5 / 49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Ajuste Urbano</a:t>
            </a:r>
            <a:br/>
            <a:r>
              <a:t>(Documentado)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5120640" cy="3291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METODOLOGÍA DE RECOLECCIÓN Y AUDITORÍA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Fuente Primaria: Geocodificación con Nominatim y cálculo de distancias de conducción sobre OpenStreetMap mediante OSRM.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Auditoría Manual 49/49: Cada una de las 49 carreteras fue medida y contrastada punto a punto en Google Maps.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Alineación 100 % Confiable: 44 de 49 tramos (89.8 %) tienen desviación nula o insignificante (≤ 2 km).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Caso Crítico IZA–PET (287.0 km): Conexión directa por la CA-13. Sin este tramo troncal, cualquier algoritmo desviaría las encomiendas por Alta Verapaz sumando cientos de kilómetros erróneos.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Transparencia: Todas las aristas y sus fuentes se documentan en el repositorio institucional.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-formulario-carret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3: Catálogo interactivo de las 49 carreteras auditadas con kilometraje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FUNDAMENTO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Dijkstra: Algoritmo de Camino Mínimo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Búsqueda voraz determinista para despacho punto a punto en la red vial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0574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PRINCIPIO VORAZ (GREEDY) Y RELAJACIÓN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Enfoque: Encuentra el camino más corto desde un nodo origen s hacia todos los demás nodos de la red.</a:t>
            </a:r>
            <a:br/>
            <a:r>
              <a:t>• Mecanismo de Relajación: Para cada arista (u, v) con peso W(u, v):</a:t>
            </a:r>
            <a:br/>
            <a:r>
              <a:t>    Si  D[u] + W(u, v) &lt; D[v]  entonces:</a:t>
            </a:r>
            <a:br/>
            <a:r>
              <a:t>        D[v] ← D[u] + W(u, v)    y    prev[v] ← u</a:t>
            </a:r>
            <a:br/>
            <a:r>
              <a:t>• Optimalidad: Al procesar un nodo u desde la cola de prioridad, su distancia D[u] es matemáticamente definitiva.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774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COMPLEJIDAD Y CONDICIÓN DE NO NEGATIVIDAD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Complejidad: O((V + E) log V) implementado con min-heap binario.</a:t>
            </a:r>
            <a:br/>
            <a:r>
              <a:t>• Rendimiento: Resuelve la consulta en el navegador en &lt; 5 milisegundos.</a:t>
            </a:r>
            <a:br/>
            <a:r>
              <a:t>• ¿Por qué NO admite pesos negativos?</a:t>
            </a:r>
            <a:br/>
            <a:r>
              <a:t>    Dijkstra asume que añadir aristas no puede reducir el costo acumulado.</a:t>
            </a:r>
            <a:br/>
            <a:r>
              <a:t>    Una arista negativa invalidaría nodos ya cerrados, produciendo rutas subóptimas.</a:t>
            </a:r>
            <a:br/>
            <a:r>
              <a:t>    En redes físicas viales, W &gt; 0 siempre (las distancias reales nunca son negativas).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asisten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4: Paso 1 del Asistente: selección de origen en Transporte Express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DEMOSTRACIÓN DE RUTA ÓPTIMA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Demo 1: Quetzaltenango a Puerto Barrios (QUE → IZA)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Caso de costa a costa cruzando el altiplano, región central y litoral atlántico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1051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224942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  <a:latin typeface="Segoe UI"/>
              </a:defRPr>
            </a:pPr>
            <a:r>
              <a:t>494.0 km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Distancia Total Mínima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468880" cy="1051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856232"/>
            <a:ext cx="224942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5 Tramos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Carreteras Conectadas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120640" cy="20116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SECUENCIA Y CARRETERAS OFICIALES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1. QUE → TOT: 28.8 km — RN-01 (Quetzaltenango a Totonicapán)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2. TOT → QUI: 36.2 km — RN-15 (Totonicapán a Quiché)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3. QUI → BVE: 128.6 km — RN-15 (Santa Cruz del Quiché a Salamá)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4. BVE → ZAC: 128.3 km — RN-17 / CA-09 (Salamá a Zacapa)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5. ZAC → IZA: 172.1 km — CA-09 Norte (Zacapa a Puerto Barrios)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5120640" cy="12344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FÓRMULA ARITMÉTICA DE COMPROBACIÓN</a:t>
            </a:r>
          </a:p>
          <a:p>
            <a:pPr>
              <a:defRPr sz="1300" b="1">
                <a:solidFill>
                  <a:srgbClr val="F8FAFC"/>
                </a:solidFill>
                <a:latin typeface="Consolas"/>
              </a:defRPr>
            </a:pPr>
            <a:r>
              <a:t>28.8 + 36.2 + 128.6 + 128.3 + 172.1 = 494.0 km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Evita el paso por la Ciudad de Guatemala, ahorrando 60+ km y horas de congestión.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-ejemplo-que-i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5: Ruta óptima QUE → IZA resaltada en púrpura sobre el mapa de RutaQ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DEMOSTRACIONES DE RUTAS ESTRATÉGICAS 2 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Demos 2 y 3: Conexiones Norte y Costa 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Trayectos clave: acceso al departamento más extenso y corredor fronterizo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DEMO 2: CIUDAD DE GUATEMALA → FLORES, PETÉN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Distancia Total: 415.3 km  (3 tramos directos)</a:t>
            </a:r>
            <a:br/>
            <a:r>
              <a:t>• Secuencia Óptima: GUA → BVE → AVE → PET</a:t>
            </a:r>
            <a:br/>
            <a:r>
              <a:t>• Tramos Oficiales:</a:t>
            </a:r>
            <a:br/>
            <a:r>
              <a:t>    - GUA → BVE: 89.0 km (CA-09 Norte a Salamá)</a:t>
            </a:r>
            <a:br/>
            <a:r>
              <a:t>    - BVE → AVE: 69.0 km (CA-14 hacia Cobán)</a:t>
            </a:r>
            <a:br/>
            <a:r>
              <a:t>    - AVE → PET: 257.3 km (Franja Transversal del Norte RD PET-11)</a:t>
            </a:r>
            <a:br/>
            <a:r>
              <a:t>• Fórmula: 89.0 + 69.0 + 257.3 = 415.3 km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8344" y="3895344"/>
            <a:ext cx="4218431" cy="2404872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ejemplo-gua-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3931920"/>
            <a:ext cx="4145279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1850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6: Enlace capital-norte (GUA → PET = 415.3 km)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212080" cy="20574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DEMO 3: SAN MARCOS → JUTIAPA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Distancia Total: 368.3 km  (5 tramos por Costa Sur)</a:t>
            </a:r>
            <a:br/>
            <a:r>
              <a:t>• Secuencia Óptima: SMA → QUE → SUC → ESC → SRO → JUT</a:t>
            </a:r>
            <a:br/>
            <a:r>
              <a:t>• Tramos Oficiales:</a:t>
            </a:r>
            <a:br/>
            <a:r>
              <a:t>    - SMA → QUE: 49.6 km (RN-01)  |  QUE → SUC: 60.2 km (CITO-180)</a:t>
            </a:r>
            <a:br/>
            <a:r>
              <a:t>    - SUC → ESC: 102.5 km (CA-02)  |  ESC → SRO: 100.0 km (CA-02)</a:t>
            </a:r>
            <a:br/>
            <a:r>
              <a:t>    - SRO → JUT: 56.0 km (CA-01 Oriente)</a:t>
            </a:r>
            <a:br/>
            <a:r>
              <a:t>• Fórmula: 49.6 + 60.2 + 102.5 + 100.0 + 56.0 = 368.3 km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2176" y="3895344"/>
            <a:ext cx="4218431" cy="2404872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-ejemplo-sma-j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752" y="3931920"/>
            <a:ext cx="4145279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45352" y="631850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7: Corredor Costa Sur y frontera oriental (SMA → JUT = 368.3 km)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INFRAESTRUCTURA Y ÁRBOL DE EXPANSIÓN MÍNIMA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Red Mínima Nacional: Prim y Kruskal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Infraestructura vial mínima para mantener comunicados los 22 departamentos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1051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224942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21 Carreteras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Aristas del Árbol (V - 1)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468880" cy="10515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856232"/>
            <a:ext cx="224942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1 425.3 km</a:t>
            </a:r>
          </a:p>
          <a:p>
            <a:pPr algn="ctr">
              <a:defRPr sz="1050" b="1">
                <a:solidFill>
                  <a:srgbClr val="E2E8F0"/>
                </a:solidFill>
                <a:latin typeface="Segoe UI"/>
              </a:defRPr>
            </a:pPr>
            <a:r>
              <a:t>Longitud Mínima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120640" cy="19659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IMPLEMENTACIÓN DUAL DETERMINISTA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Algoritmo de Prim: Expansión voraz por corte iniciando desde una cabecera raíz, incorporando siempre la arista incidente de menor peso.</a:t>
            </a:r>
            <a:br/>
            <a:r>
              <a:t>• Algoritmo de Kruskal: Ordenamiento global de todas las aristas con estructura Union-Find (bosque disjunto) para prevenir ciclos.</a:t>
            </a:r>
            <a:br/>
            <a:r>
              <a:t>• Coincidencia Determinista: Ambos algoritmos producen idéntica longitud total de 1 425.3 km y las mismas 21 carreteras troncales.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5120640" cy="132588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¿RUTA MÁS CORTA VS. ÁRBOL DE EXPANSIÓN MÍNIMA?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• Ruta Más Corta (Dijkstra): Minimiza la distancia entre un par específico origen-destino.</a:t>
            </a:r>
            <a:br/>
            <a:r>
              <a:t>• AEM (Prim/Kruskal): Minimiza la suma global de kilómetros de asfalto para conectar todos los nodos sin ciclos. Un camino dentro del AEM no siempre es la ruta más corta punto a punto.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-red-minima-p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8: Árbol de Expansión Mínima (1 425.3 km y 21 aristas) en el mapa nacional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ARQUITECTURA Y USABILIDAD DEL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Funcionalidades del Sistema RutaQ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Herramientas especializadas para despachadores, administradores y docencia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1. ASISTENTE TRANSPORTE EXPRESS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Flujo guiado de 2 pasos («¿Dónde está?» y «¿A dónde va?»).</a:t>
            </a:r>
            <a:br/>
            <a:r>
              <a:t>• Selección táctil directa sobre el mapa o mediante menús desplegables.</a:t>
            </a:r>
            <a:br/>
            <a:r>
              <a:t>• Desglose interactivo con kilometraje acumulado, vías y fórmula de cálculo.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B82F6"/>
                </a:solidFill>
                <a:latin typeface="Segoe UI"/>
              </a:defRPr>
            </a:pPr>
            <a:r>
              <a:t>2. ADMINISTRADOR DE RED VIAL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Modales para agregar, modificar o deshabilitar cabeceras y carreteras.</a:t>
            </a:r>
            <a:br/>
            <a:r>
              <a:t>• Validación en vivo de conexidad territorial y topológica.</a:t>
            </a:r>
            <a:br/>
            <a:r>
              <a:t>• Capacidad de simular cierres viales o bloqueos y recalcular al instante.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Segoe UI"/>
              </a:defRPr>
            </a:pPr>
            <a:r>
              <a:t>3. EJECUCIÓN TABULADA PASO A PASO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Tablas pedagógicas que replican el formato exacto enseñado en clase.</a:t>
            </a:r>
            <a:br/>
            <a:r>
              <a:t>• Detalle de aristas consideradas, peso, nodos incorporados y descarte por ciclo.</a:t>
            </a:r>
            <a:br/>
            <a:r>
              <a:t>• Pestañas independientes para Dijkstra, Prim, Kruskal y Floyd-Warshall.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4. MODO PRESENTACIÓN Y RESPONSIVE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Vista optimizada para proyectores de aula (16:9) y pantallas widescreen.</a:t>
            </a:r>
            <a:br/>
            <a:r>
              <a:t>• Interfaz 100 % adaptativa para teléfonos móviles, tablets y computadoras.</a:t>
            </a:r>
            <a:br/>
            <a:r>
              <a:t>• Atajos de teclado (F para pantalla completa, flechas de navegación).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AUDITORÍA TÉCNICA Y ASEGURAMIENTO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Verificación Computacional y Rendimiento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Validación científica cruzada con NetworkX y pruebas de regresión automatizadas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13716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1 168 / 1 168  Pares Verificados con NetworkX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Contraste del 100 % de caminos mínimos contra Python NetworkX: 0 discrepancias.</a:t>
            </a:r>
            <a:br/>
            <a:r>
              <a:t>• 10 / 10 instancias de Árbol de Expansión Mínima idénticas a networkx.mst.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120640" cy="137160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148 / 148  Pruebas Automatizadas (Playwright E2E)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Suite de pruebas de regresión funcional, visual y de estado en 4 dispositivos.</a:t>
            </a:r>
            <a:br/>
            <a:r>
              <a:t>• Aprobación del 100 % en Chromium, WebKit (Safari), Firefox y vista móvil.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5120640" cy="150876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Google Lighthouse: Evaluación de Rendimiento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• Rendimiento (Performance): 91 / 100</a:t>
            </a:r>
            <a:br/>
            <a:r>
              <a:t>• Accesibilidad (Accessibility): 95 / 100</a:t>
            </a:r>
            <a:br/>
            <a:r>
              <a:t>• Mejores Prácticas (Best Practices): 100 / 100</a:t>
            </a:r>
            <a:br/>
            <a:r>
              <a:t>• Optimización en Motores de Búsqueda (SEO): 100 / 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2474595"/>
            <a:ext cx="5449824" cy="309753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-acerca-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1171"/>
            <a:ext cx="5376672" cy="30243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559041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Figura 9: Modal Acerca de con especificaciones técnicas y créditos en RutaQ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2743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SÍNTESIS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Conclusiones y Logros Alcanzados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Impacto operativo, rigor cartográfico y excelencia en ingeniería de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1. RESOLUCIÓN DE LA PROBLEMÁTICA REAL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Transporte Express erradica la selección empírica de rutas por hábitos individuales.</a:t>
            </a:r>
            <a:br/>
            <a:r>
              <a:t>• El algoritmo de Dijkstra garantiza trayectos óptimos con ahorro de combustible y reducción en tiempos de entrega.</a:t>
            </a:r>
            <a:br/>
            <a:r>
              <a:t>• La hoja de ruta automatizada guía al conductor tramo a tramo con transparencia.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B82F6"/>
                </a:solidFill>
                <a:latin typeface="Segoe UI"/>
              </a:defRPr>
            </a:pPr>
            <a:r>
              <a:t>2. RIGOR CARTOGRÁFICO Y REPRODUCIBILIDAD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Grafo no dirigido de 22 cabeceras y 49 carreteras directas sustentado en OpenStreetMap.</a:t>
            </a:r>
            <a:br/>
            <a:r>
              <a:t>• Auditoría 49/49 en Google Maps que valida la precisión de cada distancia utilizada.</a:t>
            </a:r>
            <a:br/>
            <a:r>
              <a:t>• Inclusión estratégica del tramo IZA–PET (287.0 km) por la CA-13 para evitar desvíos falsos.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Segoe UI"/>
              </a:defRPr>
            </a:pPr>
            <a:r>
              <a:t>3. DOMINIO ALGORÍTMICO INTEGRAL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Coexistencia armónica: Dijkstra para encomiendas puntuales y Prim/Kruskal para red troncal.</a:t>
            </a:r>
            <a:br/>
            <a:r>
              <a:t>• Ambos algoritmos de MST coinciden deterministamente en 21 carreteras y 1 425.3 km.</a:t>
            </a:r>
            <a:br/>
            <a:r>
              <a:t>• Comprensión clara de la frontera teórica: por qué Dijkstra no admite pesos negativos.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4884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4. CALIDAD DE INGENIERÍA DE SOFTWARE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Arquitectura modular 100 % TypeScript ejecutable en navegador con respuesta en &lt; 5 ms.</a:t>
            </a:r>
            <a:br/>
            <a:r>
              <a:t>• Verificación cruzada contra NetworkX (1 168/1 168) y 148 pruebas automatizadas Playwright.</a:t>
            </a:r>
            <a:br/>
            <a:r>
              <a:t>• Despliegue web activo, accesible y con código abierto para auditoría comunitaria.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8202F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005840"/>
            <a:ext cx="4754880" cy="310896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SESIÓN DE PREGUNTAS Y 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¡Muchas Gracias por su Atención!</a:t>
            </a:r>
          </a:p>
          <a:p>
            <a:pPr>
              <a:defRPr sz="1600">
                <a:solidFill>
                  <a:srgbClr val="06B6D4"/>
                </a:solidFill>
                <a:latin typeface="Segoe UI"/>
              </a:defRPr>
            </a:pPr>
            <a:r>
              <a:t>Transporte Express — Sistema de Optimización de Rutas (RutaQ)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468880"/>
            <a:ext cx="4754880" cy="3108960"/>
          </a:xfrm>
          <a:prstGeom prst="roundRect">
            <a:avLst/>
          </a:prstGeom>
          <a:solidFill>
            <a:srgbClr val="121926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4389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ACCESO AL SISTEMA Y DOCUMENTACIÓN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Aplicación en Vivo:</a:t>
            </a:r>
            <a:br/>
            <a:r>
              <a:t>https://criss-paz.github.io/rutaq/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Presentación Web:</a:t>
            </a:r>
            <a:br/>
            <a:r>
              <a:t>https://criss-paz.github.io/rutaq/presentacion/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Repositorio GitHub:</a:t>
            </a:r>
            <a:br/>
            <a:r>
              <a:t>https://github.com/Criss-paz/rutaq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Catedrático:</a:t>
            </a:r>
            <a:br/>
            <a:r>
              <a:t>Ing. Samuel Isaac Gómez Moreno</a:t>
            </a:r>
          </a:p>
          <a:p>
            <a:pPr>
              <a:defRPr sz="1150">
                <a:solidFill>
                  <a:srgbClr val="E2E8F0"/>
                </a:solidFill>
                <a:latin typeface="Segoe UI"/>
              </a:defRPr>
            </a:pPr>
            <a:r>
              <a:t>Curso:</a:t>
            </a:r>
            <a:br/>
            <a:r>
              <a:t>Investigación de Operaciones · UMG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4572000" cy="3108960"/>
          </a:xfrm>
          <a:prstGeom prst="roundRect">
            <a:avLst/>
          </a:prstGeom>
          <a:solidFill>
            <a:srgbClr val="12192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9344" y="2569464"/>
            <a:ext cx="3812031" cy="2176272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modo-pres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20" y="2606040"/>
            <a:ext cx="3738879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6402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RutaQ en Modo Presentación listo para pruebas en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02920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¿Alguna pregunta o demostración en vivo adicional?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760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Cristopher Castellanos (2690-24-5972) · Leonel Taracena (2690-24-4072) · Pablo Vásquez (2690-24-13123)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