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ingeniero Samuel Gómez y compañeros. Hoy les presentamos la solución al Proyecto II de Investigación de Operaciones: el Sistema de Optimización de Rutas Departamentales y Red Troncal Mínima para la empresa Transporte Express, desarrollado sobre nuestra plataforma web RutaQ. El equipo está integrado por Cristopher Alexis Castellanos Paz, Leonel Taracena Marroquín y Pablo Alexander Vásquez Rivera, estudiantes del 6.º semestre de Ingeniería en Sistemas de la Universidad Mariano Gálvez de Guatemala.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Transporte Express es una compañía guatemalteca de logística que distribuye encomiendas a nivel nacional. La problemática central era que sus paquetes llegaban sistemáticamente tarde a destino debido a la falta de planificación. Los conductores tomaban rutas empíricas o hábitos individuales con desvíos innecesarios, sin contar con una red vial cuantificada con distancias reales ni una herramienta automatizada de despacho.</a:t>
            </a:r>
          </a:p>
          <a:p/>
          <a:p>
            <a:r>
              <a:t>El enunciado del Proyecto II solicita ingresar los 22 departamentos, registrar carreteras con kilometrajes reales, responder a las preguntas clave de dónde está el paquete y hacia dónde va, y presentar la ruta más corta de manera clara, visual y matemáticamente respaldada.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resolver el problema con rigor científico, modelamos la red vial de Guatemala como un grafo no dirigido ponderado y conexo G = (V, E, W). Contamos con 22 vértices que corresponden a las cabeceras departamentales oficiales con coordenadas georreferenciadas exactas en proyección Web Mercator con orientación norte-arriba.</a:t>
            </a:r>
          </a:p>
          <a:p/>
          <a:p>
            <a:r>
              <a:t>Para definir las carreteras directas aplicamos un criterio objetivo y reproducible: los departamentos deben compartir frontera territorial y la carretera no debe cruzar a menos de 2 km de otra cabecera intermedia. De este modo descartamos conexiones compuestas o atajos irreales (como JAL-ZAC y PET-QUI), obteniendo 49 aristas directas con pesos estrictamente positivos correspondientes a distancias reales de conducción en kilómetros.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aspecto fundamental de nuestro trabajo fue garantizar que los datos fueran 100 % reales y auditables. Extrajimos las distancias y geometrías mediante el motor OSRM sobre OpenStreetMap y validamos manualmente las 49 carreteras frente a Google Maps bajo un criterio técnico de tolerancia a ±10 %:</a:t>
            </a:r>
          </a:p>
          <a:p/>
          <a:p>
            <a:r>
              <a:t>35 tramos con OSRM a ±10 % de la ruta recomendada por Google Maps; 9 tramos con OSRM a ±10 % de una ruta alternativa que ofrece Google Maps; y 5 tramos donde ninguna coincidió (CHI-SOL, CHI-SUC, JAL-PRO, IZA-PET, QUE-TOT), en los cuales se utiliza directamente el valor de Google Maps.</a:t>
            </a:r>
          </a:p>
          <a:p/>
          <a:p>
            <a:r>
              <a:t>Un caso crítico fue la arista Izabal–Petén de 287.0 km por la CA-13: OSRM arrojaba 387.1 km por un trazado indirecto, por lo que adoptar el valor oficial de Google Maps evita desviar las encomiendas por Alta Verapaz. Cada número en nuestro sistema proviene de carreteras reales de Guatemala debidamente auditadas.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calcular la mejor ruta para cada paquete implementamos el Algoritmo de Dijkstra. Su funcionamiento se basa en una estrategia voraz o greedy: a partir de la cabecera origen, examina las aristas adyacentes y relaja las distancias tentativas hacia los vecinos. Gracias a una cola de prioridad basada en min-heap binario, su complejidad temporal es de O((V+E) log V).</a:t>
            </a:r>
          </a:p>
          <a:p/>
          <a:p>
            <a:r>
              <a:t>Es crucial enfatizar que Dijkstra exige pesos estrictamente no negativos (W &gt; 0), lo cual se cumple naturalmente en distancias físicas de carreteras. Si existieran costos negativos o subsidios compensatorios, Dijkstra fallaría al fijar nodos permanentemente, obligando a usar algoritmos como Bellman-Ford.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nuestro primer caso de demostración: un envío desde Quetzaltenango hasta Puerto Barrios, Izabal.</a:t>
            </a:r>
          </a:p>
          <a:p/>
          <a:p>
            <a:r>
              <a:t>El sistema determina una distancia óptima de 494.0 km a través de 5 tramos interdepartamentales:</a:t>
            </a:r>
          </a:p>
          <a:p>
            <a:r>
              <a:t>1. QUE → TOT: 28.8 km por RN-1 / RN-1B</a:t>
            </a:r>
          </a:p>
          <a:p>
            <a:r>
              <a:t>2. TOT → QUI: 36.2 km por RD QUI-04</a:t>
            </a:r>
          </a:p>
          <a:p>
            <a:r>
              <a:t>3. QUI → BVE: 128.6 km por RD QUI-2 / RN-5</a:t>
            </a:r>
          </a:p>
          <a:p>
            <a:r>
              <a:t>4. BVE → ZAC: 128.3 km por CA-9 Nor / CA-14</a:t>
            </a:r>
          </a:p>
          <a:p>
            <a:r>
              <a:t>5. ZAC → IZA: 172.1 km por CA-9 Nor</a:t>
            </a:r>
          </a:p>
          <a:p/>
          <a:p>
            <a:r>
              <a:t>La interfaz resalta la ruta sobre el mapa interactivo, desglosa cada tramo con su carretera oficial y presenta la fórmula aritmética de comprobación.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Demo 2 resolvemos el corredor norte: Ciudad de Guatemala a Flores, Petén. La ruta óptima es de 415.3 km recorriendo tres tramos:</a:t>
            </a:r>
          </a:p>
          <a:p>
            <a:r>
              <a:t>- GUA → BVE: 89.0 km por RD BV-12 / RD GUA-12</a:t>
            </a:r>
          </a:p>
          <a:p>
            <a:r>
              <a:t>- BVE → AVE: 69.0 km por CA-14 / RN-5</a:t>
            </a:r>
          </a:p>
          <a:p>
            <a:r>
              <a:t>- AVE → PET: 257.3 km por RD PET-11 / RD AV-09</a:t>
            </a:r>
          </a:p>
          <a:p/>
          <a:p>
            <a:r>
              <a:t>En la Demo 3 conectamos San Marcos con Jutiapa, totalizando 368.3 km a través de cinco tramos:</a:t>
            </a:r>
          </a:p>
          <a:p>
            <a:r>
              <a:t>- SMA → QUE: 49.6 km por RN-1</a:t>
            </a:r>
          </a:p>
          <a:p>
            <a:r>
              <a:t>- QUE → SUC: 60.2 km por CITO-180 / SCH-02</a:t>
            </a:r>
          </a:p>
          <a:p>
            <a:r>
              <a:t>- SUC → ESC: 102.5 km por CA-02 OCC</a:t>
            </a:r>
          </a:p>
          <a:p>
            <a:r>
              <a:t>- ESC → SRO: 100.0 km por CA-2 OR / RN-16</a:t>
            </a:r>
          </a:p>
          <a:p>
            <a:r>
              <a:t>- SRO → JUT: 56.0 km por CA-1 Or</a:t>
            </a:r>
          </a:p>
          <a:p/>
          <a:p>
            <a:r>
              <a:t>Ambas rutas demuestran que el sistema encuentra de forma infalible la distancia mínima con las carreteras exactas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calcular rutas para paquetes individuales, Transporte Express requería planificar su infraestructura: ¿cuál es la red vial mínima que mantiene conectados los 22 departamentos con el menor kilometraje total? Esto se modela con el Árbol de Expansión Mínima (AEM).</a:t>
            </a:r>
          </a:p>
          <a:p/>
          <a:p>
            <a:r>
              <a:t>En RutaQ implementamos tanto el Algoritmo de Prim como el de Kruskal con Union-Find para evitar ciclos. Ambos algoritmos convergen con precisión determinista en una red de exactamente 21 carreteras y 1 425.3 km.</a:t>
            </a:r>
          </a:p>
          <a:p/>
          <a:p>
            <a:r>
              <a:t>La diferencia conceptual es clave: la Ruta Más Corta de Dijkstra optimiza el trayecto individual entre dos puntos, mientras que el AEM optimiza el costo global de la red completa interconectando la totalidad del territorio nacional.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RutaQ no es un prototipo estático, sino un sistema web interactivo de nivel profesional. Cuenta con cuatro módulos centrales:</a:t>
            </a:r>
          </a:p>
          <a:p/>
          <a:p>
            <a:r>
              <a:t>1. El Asistente guiado de Transporte Express en dos pasos («¿Dónde está el paquete?» y «¿A qué departamento debe entregarse?»).</a:t>
            </a:r>
          </a:p>
          <a:p>
            <a:r>
              <a:t>2. Un Administrador de Red para agregar, editar, eliminar y buscar departamentos y carreteras con validaciones; al eliminar una carretera la ruta se recalcula al instante y se muestra un aviso si la red queda desconectada.</a:t>
            </a:r>
          </a:p>
          <a:p>
            <a:r>
              <a:t>3. Tablas pedagógicas paso a paso que replican la metodología vista en clase para Prim, Kruskal, Dijkstra y Floyd-Warshall.</a:t>
            </a:r>
          </a:p>
          <a:p>
            <a:r>
              <a:t>4. Un Modo Presentación panorámico integrado, optimizado para proyectores de aula y pantallas táctiles móviles.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confiabilidad de nuestro sistema está respaldada por una verificación computacional rigurosa. Contrastamos el 100 % de los caminos mínimos y árboles de expansión contra la biblioteca científica NetworkX en Python: 1 168 de 1 168 pares analizados (incluyendo los 484 pares de Guatemala y grafos de control) arrojaron idénticos resultados con cero discrepancias, y 10 de 10 instancias de AEM fueron idénticas.</a:t>
            </a:r>
          </a:p>
          <a:p/>
          <a:p>
            <a:r>
              <a:t>En aseguramiento de calidad de software, ejecutamos 148 pruebas automatizadas End-to-End con Playwright en 4 dispositivos (Desktop Chrome, iPhone 13 en WebKit, Pixel 7 e iPad) con 100 % de éxito. Finalmente, la auditoría oficial de Google Lighthouse certificó un rendimiento de 91, accesibilidad de 95, mejores prácticas de 100 y SEO de 100.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el proyecto demuestra el poder de la Investigación de Operaciones aplicada a la logística real:</a:t>
            </a:r>
          </a:p>
          <a:p/>
          <a:p>
            <a:r>
              <a:t>1. Transporte Express erradica la improvisación de rutas sustituyendo la intuición por algoritmos deterministas.</a:t>
            </a:r>
          </a:p>
          <a:p>
            <a:r>
              <a:t>2. El modelo matemático está fundamentado en datos reales de los 22 departamentos y 49 carreteras auditadas.</a:t>
            </a:r>
          </a:p>
          <a:p>
            <a:r>
              <a:t>3. Se integraron sinérgicamente Dijkstra para el despacho diario y Prim/Kruskal para la planeación de la red troncal (1 425.3 km).</a:t>
            </a:r>
          </a:p>
          <a:p>
            <a:r>
              <a:t>4. El código en TypeScript es modular, robusto y validado contra bibliotecas científicas de la industria, cumpliendo con creces los requerimientos del curso.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catedrático y compañeros por su tiempo y atención. El sistema se encuentra completamente desplegado y operativo en la web para que cualquiera pueda probarlo en su teléfono o computadora en criss-paz.github.io/rutaq/, y la versión web de estas diapositivas está en /presentacion/.</a:t>
            </a:r>
          </a:p>
          <a:p/>
          <a:p>
            <a:r>
              <a:t>El código fuente completo y los reportes de verificación están abiertos en GitHub. Quedamos a su entera disposición para responder cualquier pregunta o realizar las pruebas de ruta en vivo que deseen solicitar.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48640"/>
            <a:ext cx="10728655" cy="5760720"/>
          </a:xfrm>
          <a:prstGeom prst="roundRect">
            <a:avLst/>
          </a:prstGeom>
          <a:solidFill>
            <a:srgbClr val="18202F"/>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051560"/>
            <a:ext cx="5669280" cy="310896"/>
          </a:xfrm>
          <a:prstGeom prst="roundRect">
            <a:avLst/>
          </a:prstGeom>
          <a:solidFill>
            <a:srgbClr val="1E3A8A"/>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3B82F6"/>
                </a:solidFill>
                <a:latin typeface="Segoe UI"/>
              </a:defRPr>
            </a:pPr>
            <a:r>
              <a:t>UNIVERSIDAD MARIANO GÁLVEZ DE GUATEMALA · INGENIERÍA EN SISTEMAS</a:t>
            </a:r>
          </a:p>
        </p:txBody>
      </p:sp>
      <p:sp>
        <p:nvSpPr>
          <p:cNvPr id="5" name="TextBox 4"/>
          <p:cNvSpPr txBox="1"/>
          <p:nvPr/>
        </p:nvSpPr>
        <p:spPr>
          <a:xfrm>
            <a:off x="1280160" y="1508760"/>
            <a:ext cx="9601200" cy="1188720"/>
          </a:xfrm>
          <a:prstGeom prst="rect">
            <a:avLst/>
          </a:prstGeom>
          <a:noFill/>
        </p:spPr>
        <p:txBody>
          <a:bodyPr wrap="square" lIns="0" tIns="0" rIns="0" bIns="0">
            <a:spAutoFit/>
          </a:bodyPr>
          <a:lstStyle/>
          <a:p>
            <a:pPr>
              <a:defRPr sz="3400" b="1">
                <a:solidFill>
                  <a:srgbClr val="10B981"/>
                </a:solidFill>
                <a:latin typeface="Segoe UI"/>
              </a:defRPr>
            </a:pPr>
            <a:r>
              <a:t>Transporte Express — Ruta Más Corta</a:t>
            </a:r>
          </a:p>
          <a:p>
            <a:pPr>
              <a:defRPr sz="1700">
                <a:solidFill>
                  <a:srgbClr val="E2E8F0"/>
                </a:solidFill>
                <a:latin typeface="Segoe UI"/>
              </a:defRPr>
            </a:pPr>
            <a:r>
              <a:t>Optimización de Rutas Departamentales y Red Troncal Mínima (RutaQ)</a:t>
            </a:r>
          </a:p>
        </p:txBody>
      </p:sp>
      <p:sp>
        <p:nvSpPr>
          <p:cNvPr id="6" name="TextBox 5"/>
          <p:cNvSpPr txBox="1"/>
          <p:nvPr/>
        </p:nvSpPr>
        <p:spPr>
          <a:xfrm>
            <a:off x="1280160" y="2788920"/>
            <a:ext cx="4754880" cy="2560320"/>
          </a:xfrm>
          <a:prstGeom prst="rect">
            <a:avLst/>
          </a:prstGeom>
          <a:noFill/>
        </p:spPr>
        <p:txBody>
          <a:bodyPr wrap="square" lIns="0" tIns="0" rIns="0" bIns="0">
            <a:spAutoFit/>
          </a:bodyPr>
          <a:lstStyle/>
          <a:p>
            <a:pPr>
              <a:defRPr sz="1100" b="1">
                <a:solidFill>
                  <a:srgbClr val="06B6D4"/>
                </a:solidFill>
                <a:latin typeface="Segoe UI"/>
              </a:defRPr>
            </a:pPr>
            <a:r>
              <a:t>DATOS ACADÉMICOS</a:t>
            </a:r>
          </a:p>
          <a:p>
            <a:pPr>
              <a:defRPr sz="1300">
                <a:solidFill>
                  <a:srgbClr val="F8FAFC"/>
                </a:solidFill>
                <a:latin typeface="Segoe UI"/>
              </a:defRPr>
            </a:pPr>
            <a:r>
              <a:t>Curso: Investigación de Operaciones</a:t>
            </a:r>
          </a:p>
          <a:p>
            <a:pPr>
              <a:defRPr sz="1300">
                <a:solidFill>
                  <a:srgbClr val="F8FAFC"/>
                </a:solidFill>
                <a:latin typeface="Segoe UI"/>
              </a:defRPr>
            </a:pPr>
            <a:r>
              <a:t>Catedrático: Ing. Samuel Isaac Gómez Moreno</a:t>
            </a:r>
          </a:p>
          <a:p>
            <a:pPr>
              <a:defRPr sz="1300">
                <a:solidFill>
                  <a:srgbClr val="F8FAFC"/>
                </a:solidFill>
                <a:latin typeface="Segoe UI"/>
              </a:defRPr>
            </a:pPr>
            <a:r>
              <a:t>Semestre: 6.º semestre, Ingeniería en Sistemas</a:t>
            </a:r>
          </a:p>
          <a:p>
            <a:pPr>
              <a:defRPr sz="1300">
                <a:solidFill>
                  <a:srgbClr val="F8FAFC"/>
                </a:solidFill>
                <a:latin typeface="Segoe UI"/>
              </a:defRPr>
            </a:pPr>
            <a:r>
              <a:t>Fecha: Sábado 31 de octubre de 2026</a:t>
            </a:r>
          </a:p>
          <a:p>
            <a:pPr>
              <a:defRPr sz="1300">
                <a:solidFill>
                  <a:srgbClr val="F8FAFC"/>
                </a:solidFill>
                <a:latin typeface="Segoe UI"/>
              </a:defRPr>
            </a:pPr>
            <a:r>
              <a:t>Plataforma: https://criss-paz.github.io/rutaq/</a:t>
            </a:r>
          </a:p>
        </p:txBody>
      </p:sp>
      <p:sp>
        <p:nvSpPr>
          <p:cNvPr id="7" name="TextBox 6"/>
          <p:cNvSpPr txBox="1"/>
          <p:nvPr/>
        </p:nvSpPr>
        <p:spPr>
          <a:xfrm>
            <a:off x="6217920" y="2788920"/>
            <a:ext cx="4663440" cy="2560320"/>
          </a:xfrm>
          <a:prstGeom prst="rect">
            <a:avLst/>
          </a:prstGeom>
          <a:noFill/>
        </p:spPr>
        <p:txBody>
          <a:bodyPr wrap="square" lIns="0" tIns="0" rIns="0" bIns="0">
            <a:spAutoFit/>
          </a:bodyPr>
          <a:lstStyle/>
          <a:p>
            <a:pPr>
              <a:defRPr sz="1100" b="1">
                <a:solidFill>
                  <a:srgbClr val="A855F7"/>
                </a:solidFill>
                <a:latin typeface="Segoe UI"/>
              </a:defRPr>
            </a:pPr>
            <a:r>
              <a:t>INTEGRANTES DEL EQUIPO</a:t>
            </a:r>
          </a:p>
          <a:p>
            <a:pPr>
              <a:defRPr sz="1350" b="1">
                <a:solidFill>
                  <a:srgbClr val="F8FAFC"/>
                </a:solidFill>
                <a:latin typeface="Segoe UI"/>
              </a:defRPr>
            </a:pPr>
            <a:r>
              <a:t>• Cristopher Alexis Castellanos Paz</a:t>
            </a:r>
          </a:p>
          <a:p>
            <a:pPr>
              <a:defRPr sz="1150">
                <a:solidFill>
                  <a:srgbClr val="94A3B8"/>
                </a:solidFill>
                <a:latin typeface="Segoe UI"/>
              </a:defRPr>
            </a:pPr>
            <a:r>
              <a:t>   Carné: 2690-24-5972</a:t>
            </a:r>
          </a:p>
          <a:p>
            <a:pPr>
              <a:defRPr sz="1350" b="1">
                <a:solidFill>
                  <a:srgbClr val="F8FAFC"/>
                </a:solidFill>
                <a:latin typeface="Segoe UI"/>
              </a:defRPr>
            </a:pPr>
            <a:r>
              <a:t>• Leonel Taracena Marroquín</a:t>
            </a:r>
          </a:p>
          <a:p>
            <a:pPr>
              <a:defRPr sz="1150">
                <a:solidFill>
                  <a:srgbClr val="94A3B8"/>
                </a:solidFill>
                <a:latin typeface="Segoe UI"/>
              </a:defRPr>
            </a:pPr>
            <a:r>
              <a:t>   Carné: 2690-24-4072</a:t>
            </a:r>
          </a:p>
          <a:p>
            <a:pPr>
              <a:defRPr sz="1350" b="1">
                <a:solidFill>
                  <a:srgbClr val="F8FAFC"/>
                </a:solidFill>
                <a:latin typeface="Segoe UI"/>
              </a:defRPr>
            </a:pPr>
            <a:r>
              <a:t>• Pablo Alexander Vásquez Rivera</a:t>
            </a:r>
          </a:p>
          <a:p>
            <a:pPr>
              <a:defRPr sz="1150">
                <a:solidFill>
                  <a:srgbClr val="94A3B8"/>
                </a:solidFill>
                <a:latin typeface="Segoe UI"/>
              </a:defRPr>
            </a:pPr>
            <a:r>
              <a:t>   Carné: 2690-24-13123</a:t>
            </a:r>
          </a:p>
        </p:txBody>
      </p:sp>
      <p:sp>
        <p:nvSpPr>
          <p:cNvPr id="8" name="TextBox 7"/>
          <p:cNvSpPr txBox="1"/>
          <p:nvPr/>
        </p:nvSpPr>
        <p:spPr>
          <a:xfrm>
            <a:off x="1280160" y="5623560"/>
            <a:ext cx="9601200" cy="365760"/>
          </a:xfrm>
          <a:prstGeom prst="rect">
            <a:avLst/>
          </a:prstGeom>
          <a:noFill/>
        </p:spPr>
        <p:txBody>
          <a:bodyPr wrap="none">
            <a:spAutoFit/>
          </a:bodyPr>
          <a:lstStyle/>
          <a:p>
            <a:pPr algn="ctr">
              <a:defRPr sz="1100" b="1">
                <a:solidFill>
                  <a:srgbClr val="F59E0B"/>
                </a:solidFill>
                <a:latin typeface="Segoe UI"/>
              </a:defRPr>
            </a:pPr>
            <a:r>
              <a:t>22 Cabeceras Departamentales · 49 Carreteras Directas · Algoritmos: Dijkstra, Prim y Kruskal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DIAGNÓSTICO Y REQUERIMIENTOS</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El Problema: Retrasos en Envíos Nacionales</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Causas operativas en Transporte Express y especificaciones del Proyecto II</a:t>
            </a:r>
          </a:p>
        </p:txBody>
      </p:sp>
      <p:sp>
        <p:nvSpPr>
          <p:cNvPr id="6" name="Rounded Rectangle 5"/>
          <p:cNvSpPr/>
          <p:nvPr/>
        </p:nvSpPr>
        <p:spPr>
          <a:xfrm>
            <a:off x="731520" y="1783080"/>
            <a:ext cx="5120640" cy="219456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65960"/>
            <a:ext cx="4663440" cy="1828800"/>
          </a:xfrm>
          <a:prstGeom prst="rect">
            <a:avLst/>
          </a:prstGeom>
          <a:noFill/>
        </p:spPr>
        <p:txBody>
          <a:bodyPr wrap="square">
            <a:spAutoFit/>
          </a:bodyPr>
          <a:lstStyle/>
          <a:p>
            <a:pPr>
              <a:defRPr sz="1100" b="1">
                <a:solidFill>
                  <a:srgbClr val="F59E0B"/>
                </a:solidFill>
                <a:latin typeface="Segoe UI"/>
              </a:defRPr>
            </a:pPr>
            <a:r>
              <a:t>PROBLEMÁTICA EN TRANSPORTE EXPRESS</a:t>
            </a:r>
          </a:p>
          <a:p>
            <a:pPr>
              <a:defRPr sz="1150">
                <a:solidFill>
                  <a:srgbClr val="E2E8F0"/>
                </a:solidFill>
                <a:latin typeface="Segoe UI"/>
              </a:defRPr>
            </a:pPr>
            <a:r>
              <a:t>• Paquetes que llegan tarde sistemáticamente a su destino.</a:t>
            </a:r>
          </a:p>
          <a:p>
            <a:pPr>
              <a:defRPr sz="1150">
                <a:solidFill>
                  <a:srgbClr val="E2E8F0"/>
                </a:solidFill>
                <a:latin typeface="Segoe UI"/>
              </a:defRPr>
            </a:pPr>
            <a:r>
              <a:t>• Rutas elegidas por intuición o hábitos individuales sin sustento matemático.</a:t>
            </a:r>
          </a:p>
          <a:p>
            <a:pPr>
              <a:defRPr sz="1150">
                <a:solidFill>
                  <a:srgbClr val="E2E8F0"/>
                </a:solidFill>
                <a:latin typeface="Segoe UI"/>
              </a:defRPr>
            </a:pPr>
            <a:r>
              <a:t>• Desvíos innecesarios que provocan sobrecosto de combustible y desgaste de flota.</a:t>
            </a:r>
          </a:p>
          <a:p>
            <a:pPr>
              <a:defRPr sz="1150">
                <a:solidFill>
                  <a:srgbClr val="E2E8F0"/>
                </a:solidFill>
                <a:latin typeface="Segoe UI"/>
              </a:defRPr>
            </a:pPr>
            <a:r>
              <a:t>• Inexistencia de una red vial digitalizada y cuantificada en distancias reales.</a:t>
            </a:r>
          </a:p>
        </p:txBody>
      </p:sp>
      <p:sp>
        <p:nvSpPr>
          <p:cNvPr id="8" name="Rounded Rectangle 7"/>
          <p:cNvSpPr/>
          <p:nvPr/>
        </p:nvSpPr>
        <p:spPr>
          <a:xfrm>
            <a:off x="731520" y="4160520"/>
            <a:ext cx="5120640" cy="219456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43400"/>
            <a:ext cx="4663440" cy="1828800"/>
          </a:xfrm>
          <a:prstGeom prst="rect">
            <a:avLst/>
          </a:prstGeom>
          <a:noFill/>
        </p:spPr>
        <p:txBody>
          <a:bodyPr wrap="square">
            <a:spAutoFit/>
          </a:bodyPr>
          <a:lstStyle/>
          <a:p>
            <a:pPr>
              <a:defRPr sz="1100" b="1">
                <a:solidFill>
                  <a:srgbClr val="10B981"/>
                </a:solidFill>
                <a:latin typeface="Segoe UI"/>
              </a:defRPr>
            </a:pPr>
            <a:r>
              <a:t>REQUERIMIENTOS FORMALES DEL ENUNCIADO</a:t>
            </a:r>
          </a:p>
          <a:p>
            <a:pPr>
              <a:defRPr sz="1150">
                <a:solidFill>
                  <a:srgbClr val="E2E8F0"/>
                </a:solidFill>
                <a:latin typeface="Segoe UI"/>
              </a:defRPr>
            </a:pPr>
            <a:r>
              <a:t>• 1. Ingresar los 22 departamentos con cabeceras y coordenadas georreferenciadas.</a:t>
            </a:r>
          </a:p>
          <a:p>
            <a:pPr>
              <a:defRPr sz="1150">
                <a:solidFill>
                  <a:srgbClr val="E2E8F0"/>
                </a:solidFill>
                <a:latin typeface="Segoe UI"/>
              </a:defRPr>
            </a:pPr>
            <a:r>
              <a:t>• 2. Registrar carreteras interdepartamentales con distancias reales en kilómetros.</a:t>
            </a:r>
          </a:p>
          <a:p>
            <a:pPr>
              <a:defRPr sz="1150">
                <a:solidFill>
                  <a:srgbClr val="E2E8F0"/>
                </a:solidFill>
                <a:latin typeface="Segoe UI"/>
              </a:defRPr>
            </a:pPr>
            <a:r>
              <a:t>• 3. Preguntar interactivamente: ¿Dónde está el paquete? y ¿A dónde debe entregarse?</a:t>
            </a:r>
          </a:p>
          <a:p>
            <a:pPr>
              <a:defRPr sz="1150">
                <a:solidFill>
                  <a:srgbClr val="E2E8F0"/>
                </a:solidFill>
                <a:latin typeface="Segoe UI"/>
              </a:defRPr>
            </a:pPr>
            <a:r>
              <a:t>• 4. Calcular y exhibir la mejor ruta con desglose de tramos y fórmula matemática.</a:t>
            </a:r>
          </a:p>
        </p:txBody>
      </p:sp>
      <p:sp>
        <p:nvSpPr>
          <p:cNvPr id="10" name="Rounded Rectangle 9"/>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1-pantalla-inicio-guatemala.png"/>
          <p:cNvPicPr>
            <a:picLocks noChangeAspect="1"/>
          </p:cNvPicPr>
          <p:nvPr/>
        </p:nvPicPr>
        <p:blipFill>
          <a:blip r:embed="rId2"/>
          <a:stretch>
            <a:fillRect/>
          </a:stretch>
        </p:blipFill>
        <p:spPr>
          <a:xfrm>
            <a:off x="6080760" y="2511171"/>
            <a:ext cx="5376672" cy="3024378"/>
          </a:xfrm>
          <a:prstGeom prst="rect">
            <a:avLst/>
          </a:prstGeom>
        </p:spPr>
      </p:pic>
      <p:sp>
        <p:nvSpPr>
          <p:cNvPr id="12" name="TextBox 11"/>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1: Vista general de RutaQ orientada al norte con los 22 departamentos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MODELADO MATEMÁTICO</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Modelo: Grafo No Dirigido Ponderado G = (V, E, W)</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Abstracción determinista de la red vial nacional y criterios de conectividad</a:t>
            </a:r>
          </a:p>
        </p:txBody>
      </p:sp>
      <p:sp>
        <p:nvSpPr>
          <p:cNvPr id="6" name="Rounded Rectangle 5"/>
          <p:cNvSpPr/>
          <p:nvPr/>
        </p:nvSpPr>
        <p:spPr>
          <a:xfrm>
            <a:off x="731520" y="1783080"/>
            <a:ext cx="5120640" cy="13716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754880" cy="1188720"/>
          </a:xfrm>
          <a:prstGeom prst="rect">
            <a:avLst/>
          </a:prstGeom>
          <a:noFill/>
        </p:spPr>
        <p:txBody>
          <a:bodyPr wrap="square">
            <a:spAutoFit/>
          </a:bodyPr>
          <a:lstStyle/>
          <a:p>
            <a:pPr>
              <a:defRPr sz="1300" b="1">
                <a:solidFill>
                  <a:srgbClr val="3B82F6"/>
                </a:solidFill>
                <a:latin typeface="Segoe UI"/>
              </a:defRPr>
            </a:pPr>
            <a:r>
              <a:t>V = 22 Vértices (Cabeceras Departamentales)</a:t>
            </a:r>
          </a:p>
          <a:p>
            <a:pPr>
              <a:defRPr sz="1100">
                <a:solidFill>
                  <a:srgbClr val="E2E8F0"/>
                </a:solidFill>
                <a:latin typeface="Segoe UI"/>
              </a:defRPr>
            </a:pPr>
            <a:r>
              <a:t>• Coordenadas georreferenciadas oficiales (latitud/longitud) proyectadas en Web Mercator.</a:t>
            </a:r>
            <a:br/>
            <a:r>
              <a:t>• Códigos canónicos inmutables de 3 letras (GUA, QUE, PET, IZA, SMA, etc.).</a:t>
            </a:r>
          </a:p>
        </p:txBody>
      </p:sp>
      <p:sp>
        <p:nvSpPr>
          <p:cNvPr id="8" name="Rounded Rectangle 7"/>
          <p:cNvSpPr/>
          <p:nvPr/>
        </p:nvSpPr>
        <p:spPr>
          <a:xfrm>
            <a:off x="731520" y="3291840"/>
            <a:ext cx="5120640" cy="16002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83280"/>
            <a:ext cx="4754880" cy="1417320"/>
          </a:xfrm>
          <a:prstGeom prst="rect">
            <a:avLst/>
          </a:prstGeom>
          <a:noFill/>
        </p:spPr>
        <p:txBody>
          <a:bodyPr wrap="square">
            <a:spAutoFit/>
          </a:bodyPr>
          <a:lstStyle/>
          <a:p>
            <a:pPr>
              <a:defRPr sz="1300" b="1">
                <a:solidFill>
                  <a:srgbClr val="10B981"/>
                </a:solidFill>
                <a:latin typeface="Segoe UI"/>
              </a:defRPr>
            </a:pPr>
            <a:r>
              <a:t>E = 49 Aristas Directas entre Vecinos</a:t>
            </a:r>
          </a:p>
          <a:p>
            <a:pPr>
              <a:defRPr sz="1100">
                <a:solidFill>
                  <a:srgbClr val="E2E8F0"/>
                </a:solidFill>
                <a:latin typeface="Segoe UI"/>
              </a:defRPr>
            </a:pPr>
            <a:r>
              <a:t>• Vecindad Territorial: Frontera geográfica compartida (contacto ≤ 200 m).</a:t>
            </a:r>
            <a:br/>
            <a:r>
              <a:t>• Umbral de Paso: No cruzar a &lt; 2.0 km de otra cabecera intermedia.</a:t>
            </a:r>
            <a:br/>
            <a:r>
              <a:t>• Descarte Auditado: JAL–ZAC y PET–QUI descartadas formalmente por violar umbral.</a:t>
            </a:r>
          </a:p>
        </p:txBody>
      </p:sp>
      <p:sp>
        <p:nvSpPr>
          <p:cNvPr id="10" name="Rounded Rectangle 9"/>
          <p:cNvSpPr/>
          <p:nvPr/>
        </p:nvSpPr>
        <p:spPr>
          <a:xfrm>
            <a:off x="731520" y="5029200"/>
            <a:ext cx="5120640" cy="132588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20640"/>
            <a:ext cx="4754880" cy="1143000"/>
          </a:xfrm>
          <a:prstGeom prst="rect">
            <a:avLst/>
          </a:prstGeom>
          <a:noFill/>
        </p:spPr>
        <p:txBody>
          <a:bodyPr wrap="square">
            <a:spAutoFit/>
          </a:bodyPr>
          <a:lstStyle/>
          <a:p>
            <a:pPr>
              <a:defRPr sz="1300" b="1">
                <a:solidFill>
                  <a:srgbClr val="A855F7"/>
                </a:solidFill>
                <a:latin typeface="Segoe UI"/>
              </a:defRPr>
            </a:pPr>
            <a:r>
              <a:t>W(e) Pesos: Kilometraje Real de Conducción</a:t>
            </a:r>
          </a:p>
          <a:p>
            <a:pPr>
              <a:defRPr sz="1100">
                <a:solidFill>
                  <a:srgbClr val="E2E8F0"/>
                </a:solidFill>
                <a:latin typeface="Segoe UI"/>
              </a:defRPr>
            </a:pPr>
            <a:r>
              <a:t>• Distancias físicas estrictamente positivas (W &gt; 0).</a:t>
            </a:r>
            <a:br/>
            <a:r>
              <a:t>• Nomenclatura vial oficial nacional (CA-1, CA-9, RN-15, FTN).</a:t>
            </a:r>
            <a:br/>
            <a:r>
              <a:t>• Grafo 100 % conexo: existe ruta entre cualquier par de cabeceras.</a:t>
            </a:r>
          </a:p>
        </p:txBody>
      </p:sp>
      <p:sp>
        <p:nvSpPr>
          <p:cNvPr id="12" name="Rounded Rectangle 11"/>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01-pantalla-inicio-guatemala.png"/>
          <p:cNvPicPr>
            <a:picLocks noChangeAspect="1"/>
          </p:cNvPicPr>
          <p:nvPr/>
        </p:nvPicPr>
        <p:blipFill>
          <a:blip r:embed="rId2"/>
          <a:stretch>
            <a:fillRect/>
          </a:stretch>
        </p:blipFill>
        <p:spPr>
          <a:xfrm>
            <a:off x="6080760" y="2511171"/>
            <a:ext cx="5376672" cy="3024378"/>
          </a:xfrm>
          <a:prstGeom prst="rect">
            <a:avLst/>
          </a:prstGeom>
        </p:spPr>
      </p:pic>
      <p:sp>
        <p:nvSpPr>
          <p:cNvPr id="14" name="TextBox 13"/>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2: Grafo completo: 22 cabeceras departamentales y 49 carreteras directas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PRECISIÓN Y METODOLOGÍA CARTOGRÁFICA</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Datos Reales y Auditoría Geográfica</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Extracción satelital con OSRM/OpenStreetMap y verificación al 100 % en Google Maps</a:t>
            </a:r>
          </a:p>
        </p:txBody>
      </p:sp>
      <p:sp>
        <p:nvSpPr>
          <p:cNvPr id="6" name="Rounded Rectangle 5"/>
          <p:cNvSpPr/>
          <p:nvPr/>
        </p:nvSpPr>
        <p:spPr>
          <a:xfrm>
            <a:off x="731520" y="1783080"/>
            <a:ext cx="1600200" cy="1097280"/>
          </a:xfrm>
          <a:prstGeom prst="roundRect">
            <a:avLst/>
          </a:prstGeom>
          <a:solidFill>
            <a:srgbClr val="18202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56232"/>
            <a:ext cx="1380744" cy="950976"/>
          </a:xfrm>
          <a:prstGeom prst="rect">
            <a:avLst/>
          </a:prstGeom>
          <a:noFill/>
        </p:spPr>
        <p:txBody>
          <a:bodyPr wrap="square" lIns="0" tIns="0" rIns="0" bIns="0">
            <a:spAutoFit/>
          </a:bodyPr>
          <a:lstStyle/>
          <a:p>
            <a:pPr algn="ctr">
              <a:defRPr sz="2400" b="1">
                <a:solidFill>
                  <a:srgbClr val="10B981"/>
                </a:solidFill>
                <a:latin typeface="Segoe UI"/>
              </a:defRPr>
            </a:pPr>
            <a:r>
              <a:t>35 / 49</a:t>
            </a:r>
          </a:p>
          <a:p>
            <a:pPr algn="ctr">
              <a:defRPr sz="1050" b="1">
                <a:solidFill>
                  <a:srgbClr val="E2E8F0"/>
                </a:solidFill>
                <a:latin typeface="Segoe UI"/>
              </a:defRPr>
            </a:pPr>
            <a:r>
              <a:t>Ruta Recomendada</a:t>
            </a:r>
            <a:br/>
            <a:r>
              <a:t>(OSRM a ±10 %)</a:t>
            </a:r>
          </a:p>
        </p:txBody>
      </p:sp>
      <p:sp>
        <p:nvSpPr>
          <p:cNvPr id="8" name="Rounded Rectangle 7"/>
          <p:cNvSpPr/>
          <p:nvPr/>
        </p:nvSpPr>
        <p:spPr>
          <a:xfrm>
            <a:off x="2487168" y="1783080"/>
            <a:ext cx="1600200" cy="1097280"/>
          </a:xfrm>
          <a:prstGeom prst="roundRect">
            <a:avLst/>
          </a:prstGeom>
          <a:solidFill>
            <a:srgbClr val="18202F"/>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6896" y="1856232"/>
            <a:ext cx="1380744" cy="950976"/>
          </a:xfrm>
          <a:prstGeom prst="rect">
            <a:avLst/>
          </a:prstGeom>
          <a:noFill/>
        </p:spPr>
        <p:txBody>
          <a:bodyPr wrap="square" lIns="0" tIns="0" rIns="0" bIns="0">
            <a:spAutoFit/>
          </a:bodyPr>
          <a:lstStyle/>
          <a:p>
            <a:pPr algn="ctr">
              <a:defRPr sz="2400" b="1">
                <a:solidFill>
                  <a:srgbClr val="3B82F6"/>
                </a:solidFill>
                <a:latin typeface="Segoe UI"/>
              </a:defRPr>
            </a:pPr>
            <a:r>
              <a:t>9 / 49</a:t>
            </a:r>
          </a:p>
          <a:p>
            <a:pPr algn="ctr">
              <a:defRPr sz="1050" b="1">
                <a:solidFill>
                  <a:srgbClr val="E2E8F0"/>
                </a:solidFill>
                <a:latin typeface="Segoe UI"/>
              </a:defRPr>
            </a:pPr>
            <a:r>
              <a:t>Ruta Alternativa</a:t>
            </a:r>
            <a:br/>
            <a:r>
              <a:t>(OSRM a ±10 %)</a:t>
            </a:r>
          </a:p>
        </p:txBody>
      </p:sp>
      <p:sp>
        <p:nvSpPr>
          <p:cNvPr id="10" name="Rounded Rectangle 9"/>
          <p:cNvSpPr/>
          <p:nvPr/>
        </p:nvSpPr>
        <p:spPr>
          <a:xfrm>
            <a:off x="4242816" y="1783080"/>
            <a:ext cx="1600200" cy="1097280"/>
          </a:xfrm>
          <a:prstGeom prst="roundRect">
            <a:avLst/>
          </a:prstGeom>
          <a:solidFill>
            <a:srgbClr val="18202F"/>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4" y="1856232"/>
            <a:ext cx="1380744" cy="950976"/>
          </a:xfrm>
          <a:prstGeom prst="rect">
            <a:avLst/>
          </a:prstGeom>
          <a:noFill/>
        </p:spPr>
        <p:txBody>
          <a:bodyPr wrap="square" lIns="0" tIns="0" rIns="0" bIns="0">
            <a:spAutoFit/>
          </a:bodyPr>
          <a:lstStyle/>
          <a:p>
            <a:pPr algn="ctr">
              <a:defRPr sz="2400" b="1">
                <a:solidFill>
                  <a:srgbClr val="F59E0B"/>
                </a:solidFill>
                <a:latin typeface="Segoe UI"/>
              </a:defRPr>
            </a:pPr>
            <a:r>
              <a:t>5 / 49</a:t>
            </a:r>
          </a:p>
          <a:p>
            <a:pPr algn="ctr">
              <a:defRPr sz="1050" b="1">
                <a:solidFill>
                  <a:srgbClr val="E2E8F0"/>
                </a:solidFill>
                <a:latin typeface="Segoe UI"/>
              </a:defRPr>
            </a:pPr>
            <a:r>
              <a:t>Valor Google Maps</a:t>
            </a:r>
            <a:br/>
            <a:r>
              <a:t>(Sin coincidencia)</a:t>
            </a:r>
          </a:p>
        </p:txBody>
      </p:sp>
      <p:sp>
        <p:nvSpPr>
          <p:cNvPr id="12" name="Rounded Rectangle 11"/>
          <p:cNvSpPr/>
          <p:nvPr/>
        </p:nvSpPr>
        <p:spPr>
          <a:xfrm>
            <a:off x="731520" y="3063240"/>
            <a:ext cx="5120640" cy="3291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4663440" cy="3017520"/>
          </a:xfrm>
          <a:prstGeom prst="rect">
            <a:avLst/>
          </a:prstGeom>
          <a:noFill/>
        </p:spPr>
        <p:txBody>
          <a:bodyPr wrap="square">
            <a:spAutoFit/>
          </a:bodyPr>
          <a:lstStyle/>
          <a:p>
            <a:pPr>
              <a:defRPr sz="1100" b="1">
                <a:solidFill>
                  <a:srgbClr val="06B6D4"/>
                </a:solidFill>
                <a:latin typeface="Segoe UI"/>
              </a:defRPr>
            </a:pPr>
            <a:r>
              <a:t>METODOLOGÍA DE RECOLECCIÓN Y AUDITORÍA</a:t>
            </a:r>
          </a:p>
          <a:p>
            <a:pPr>
              <a:defRPr sz="1050">
                <a:solidFill>
                  <a:srgbClr val="E2E8F0"/>
                </a:solidFill>
                <a:latin typeface="Segoe UI"/>
              </a:defRPr>
            </a:pPr>
            <a:r>
              <a:t>• Fuente Primaria: Geocodificación con Nominatim y cálculo de distancias de conducción sobre OpenStreetMap mediante OSRM.</a:t>
            </a:r>
          </a:p>
          <a:p>
            <a:pPr>
              <a:defRPr sz="1050">
                <a:solidFill>
                  <a:srgbClr val="E2E8F0"/>
                </a:solidFill>
                <a:latin typeface="Segoe UI"/>
              </a:defRPr>
            </a:pPr>
            <a:r>
              <a:t>• Auditoría 49/49 en Google Maps: Cada una de las 49 carreteras fue validada punto a punto en Google Maps.</a:t>
            </a:r>
          </a:p>
          <a:p>
            <a:pPr>
              <a:defRPr sz="1050">
                <a:solidFill>
                  <a:srgbClr val="E2E8F0"/>
                </a:solidFill>
                <a:latin typeface="Segoe UI"/>
              </a:defRPr>
            </a:pPr>
            <a:r>
              <a:t>• Tolerancia ±10 %: 35 tramos coinciden con la ruta recomendada y 9 con una ruta alternativa de Google Maps.</a:t>
            </a:r>
          </a:p>
          <a:p>
            <a:pPr>
              <a:defRPr sz="1050">
                <a:solidFill>
                  <a:srgbClr val="E2E8F0"/>
                </a:solidFill>
                <a:latin typeface="Segoe UI"/>
              </a:defRPr>
            </a:pPr>
            <a:r>
              <a:t>• 5 Tramos Ajustados a Google Maps: Al no coincidir OSRM a ±10 %, se usa el valor de Google Maps (CHI-SOL, CHI-SUC, JAL-PRO, IZA-PET, QUE-TOT).</a:t>
            </a:r>
          </a:p>
          <a:p>
            <a:pPr>
              <a:defRPr sz="1050">
                <a:solidFill>
                  <a:srgbClr val="E2E8F0"/>
                </a:solidFill>
                <a:latin typeface="Segoe UI"/>
              </a:defRPr>
            </a:pPr>
            <a:r>
              <a:t>• Caso Crítico IZA–PET (287.0 km): Conexión directa por la CA-13 adoptada de Google Maps (OSRM daba 387.1 km) para evitar desvíos falsos por Alta Verapaz.</a:t>
            </a:r>
          </a:p>
        </p:txBody>
      </p:sp>
      <p:sp>
        <p:nvSpPr>
          <p:cNvPr id="14" name="Rounded Rectangle 13"/>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4-formulario-carreteras.png"/>
          <p:cNvPicPr>
            <a:picLocks noChangeAspect="1"/>
          </p:cNvPicPr>
          <p:nvPr/>
        </p:nvPicPr>
        <p:blipFill>
          <a:blip r:embed="rId2"/>
          <a:stretch>
            <a:fillRect/>
          </a:stretch>
        </p:blipFill>
        <p:spPr>
          <a:xfrm>
            <a:off x="6080760" y="2511171"/>
            <a:ext cx="5376672" cy="3024378"/>
          </a:xfrm>
          <a:prstGeom prst="rect">
            <a:avLst/>
          </a:prstGeom>
        </p:spPr>
      </p:pic>
      <p:sp>
        <p:nvSpPr>
          <p:cNvPr id="16" name="TextBox 15"/>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3: Catálogo interactivo de las 49 carreteras auditadas con kilometraje real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FUNDAMENTO ALGORÍTMICO</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Dijkstra: Algoritmo de Camino Mínimo</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Búsqueda voraz determinista para despacho punto a punto en la red vial</a:t>
            </a:r>
          </a:p>
        </p:txBody>
      </p:sp>
      <p:sp>
        <p:nvSpPr>
          <p:cNvPr id="6" name="Rounded Rectangle 5"/>
          <p:cNvSpPr/>
          <p:nvPr/>
        </p:nvSpPr>
        <p:spPr>
          <a:xfrm>
            <a:off x="731520" y="1783080"/>
            <a:ext cx="5120640" cy="20574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4663440" cy="1874519"/>
          </a:xfrm>
          <a:prstGeom prst="rect">
            <a:avLst/>
          </a:prstGeom>
          <a:noFill/>
        </p:spPr>
        <p:txBody>
          <a:bodyPr wrap="square">
            <a:spAutoFit/>
          </a:bodyPr>
          <a:lstStyle/>
          <a:p>
            <a:pPr>
              <a:defRPr sz="1100" b="1">
                <a:solidFill>
                  <a:srgbClr val="A855F7"/>
                </a:solidFill>
                <a:latin typeface="Segoe UI"/>
              </a:defRPr>
            </a:pPr>
            <a:r>
              <a:t>PRINCIPIO VORAZ (GREEDY) Y RELAJACIÓN</a:t>
            </a:r>
          </a:p>
          <a:p>
            <a:pPr>
              <a:defRPr sz="1100">
                <a:solidFill>
                  <a:srgbClr val="E2E8F0"/>
                </a:solidFill>
                <a:latin typeface="Segoe UI"/>
              </a:defRPr>
            </a:pPr>
            <a:r>
              <a:t>• Enfoque: Encuentra el camino más corto desde un nodo origen s hacia todos los demás nodos de la red.</a:t>
            </a:r>
            <a:br/>
            <a:r>
              <a:t>• Mecanismo de Relajación: Para cada arista (u, v) con peso W(u, v):</a:t>
            </a:r>
            <a:br/>
            <a:r>
              <a:t>    Si  D[u] + W(u, v) &lt; D[v]  entonces:</a:t>
            </a:r>
            <a:br/>
            <a:r>
              <a:t>        D[v] ← D[u] + W(u, v)    y    prev[v] ← u</a:t>
            </a:r>
            <a:br/>
            <a:r>
              <a:t>• Optimalidad: Al procesar un nodo u desde la cola de prioridad, su distancia D[u] es matemáticamente definitiva.</a:t>
            </a:r>
          </a:p>
        </p:txBody>
      </p:sp>
      <p:sp>
        <p:nvSpPr>
          <p:cNvPr id="8" name="Rounded Rectangle 7"/>
          <p:cNvSpPr/>
          <p:nvPr/>
        </p:nvSpPr>
        <p:spPr>
          <a:xfrm>
            <a:off x="731520" y="3977639"/>
            <a:ext cx="5120640" cy="23774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069080"/>
            <a:ext cx="4663440" cy="2194560"/>
          </a:xfrm>
          <a:prstGeom prst="rect">
            <a:avLst/>
          </a:prstGeom>
          <a:noFill/>
        </p:spPr>
        <p:txBody>
          <a:bodyPr wrap="square">
            <a:spAutoFit/>
          </a:bodyPr>
          <a:lstStyle/>
          <a:p>
            <a:pPr>
              <a:defRPr sz="1100" b="1">
                <a:solidFill>
                  <a:srgbClr val="10B981"/>
                </a:solidFill>
                <a:latin typeface="Segoe UI"/>
              </a:defRPr>
            </a:pPr>
            <a:r>
              <a:t>COMPLEJIDAD Y CONDICIÓN DE NO NEGATIVIDAD</a:t>
            </a:r>
          </a:p>
          <a:p>
            <a:pPr>
              <a:defRPr sz="1050">
                <a:solidFill>
                  <a:srgbClr val="E2E8F0"/>
                </a:solidFill>
                <a:latin typeface="Segoe UI"/>
              </a:defRPr>
            </a:pPr>
            <a:r>
              <a:t>• Complejidad: O((V + E) log V) implementado con min-heap binario.</a:t>
            </a:r>
            <a:br/>
            <a:r>
              <a:t>• ¿Por qué NO admite pesos negativos?</a:t>
            </a:r>
            <a:br/>
            <a:r>
              <a:t>    Dijkstra asume que añadir aristas no puede reducir el costo acumulado.</a:t>
            </a:r>
            <a:br/>
            <a:r>
              <a:t>    Una arista negativa invalidaría nodos ya cerrados, produciendo rutas subóptimas.</a:t>
            </a:r>
            <a:br/>
            <a:r>
              <a:t>    En redes físicas viales, W &gt; 0 siempre (las distancias reales nunca son negativas).</a:t>
            </a:r>
          </a:p>
        </p:txBody>
      </p:sp>
      <p:sp>
        <p:nvSpPr>
          <p:cNvPr id="10" name="Rounded Rectangle 9"/>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2-asistente-paso1.png"/>
          <p:cNvPicPr>
            <a:picLocks noChangeAspect="1"/>
          </p:cNvPicPr>
          <p:nvPr/>
        </p:nvPicPr>
        <p:blipFill>
          <a:blip r:embed="rId2"/>
          <a:stretch>
            <a:fillRect/>
          </a:stretch>
        </p:blipFill>
        <p:spPr>
          <a:xfrm>
            <a:off x="6080760" y="2511171"/>
            <a:ext cx="5376672" cy="3024378"/>
          </a:xfrm>
          <a:prstGeom prst="rect">
            <a:avLst/>
          </a:prstGeom>
        </p:spPr>
      </p:pic>
      <p:sp>
        <p:nvSpPr>
          <p:cNvPr id="12" name="TextBox 11"/>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4: Paso 1 del Asistente: selección de origen en Transporte Express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DEMOSTRACIÓN DE RUTA ÓPTIMA 1</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Demo 1: Quetzaltenango a Puerto Barrios (QUE → IZA)</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Caso de costa a costa cruzando el altiplano, región central y litoral atlántico</a:t>
            </a:r>
          </a:p>
        </p:txBody>
      </p:sp>
      <p:sp>
        <p:nvSpPr>
          <p:cNvPr id="6" name="Rounded Rectangle 5"/>
          <p:cNvSpPr/>
          <p:nvPr/>
        </p:nvSpPr>
        <p:spPr>
          <a:xfrm>
            <a:off x="731520" y="1783080"/>
            <a:ext cx="2468880" cy="1051560"/>
          </a:xfrm>
          <a:prstGeom prst="roundRect">
            <a:avLst/>
          </a:prstGeom>
          <a:solidFill>
            <a:srgbClr val="18202F"/>
          </a:solidFill>
          <a:ln w="1524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56232"/>
            <a:ext cx="2249424" cy="905256"/>
          </a:xfrm>
          <a:prstGeom prst="rect">
            <a:avLst/>
          </a:prstGeom>
          <a:noFill/>
        </p:spPr>
        <p:txBody>
          <a:bodyPr wrap="square" lIns="0" tIns="0" rIns="0" bIns="0">
            <a:spAutoFit/>
          </a:bodyPr>
          <a:lstStyle/>
          <a:p>
            <a:pPr algn="ctr">
              <a:defRPr sz="2400" b="1">
                <a:solidFill>
                  <a:srgbClr val="A855F7"/>
                </a:solidFill>
                <a:latin typeface="Segoe UI"/>
              </a:defRPr>
            </a:pPr>
            <a:r>
              <a:t>494.0 km</a:t>
            </a:r>
          </a:p>
          <a:p>
            <a:pPr algn="ctr">
              <a:defRPr sz="1050" b="1">
                <a:solidFill>
                  <a:srgbClr val="E2E8F0"/>
                </a:solidFill>
                <a:latin typeface="Segoe UI"/>
              </a:defRPr>
            </a:pPr>
            <a:r>
              <a:t>Distancia Total Mínima</a:t>
            </a:r>
          </a:p>
        </p:txBody>
      </p:sp>
      <p:sp>
        <p:nvSpPr>
          <p:cNvPr id="8" name="Rounded Rectangle 7"/>
          <p:cNvSpPr/>
          <p:nvPr/>
        </p:nvSpPr>
        <p:spPr>
          <a:xfrm>
            <a:off x="3383280" y="1783080"/>
            <a:ext cx="2468880" cy="1051560"/>
          </a:xfrm>
          <a:prstGeom prst="roundRect">
            <a:avLst/>
          </a:prstGeom>
          <a:solidFill>
            <a:srgbClr val="18202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3008" y="1856232"/>
            <a:ext cx="2249424" cy="905256"/>
          </a:xfrm>
          <a:prstGeom prst="rect">
            <a:avLst/>
          </a:prstGeom>
          <a:noFill/>
        </p:spPr>
        <p:txBody>
          <a:bodyPr wrap="square" lIns="0" tIns="0" rIns="0" bIns="0">
            <a:spAutoFit/>
          </a:bodyPr>
          <a:lstStyle/>
          <a:p>
            <a:pPr algn="ctr">
              <a:defRPr sz="2400" b="1">
                <a:solidFill>
                  <a:srgbClr val="10B981"/>
                </a:solidFill>
                <a:latin typeface="Segoe UI"/>
              </a:defRPr>
            </a:pPr>
            <a:r>
              <a:t>5 Tramos</a:t>
            </a:r>
          </a:p>
          <a:p>
            <a:pPr algn="ctr">
              <a:defRPr sz="1050" b="1">
                <a:solidFill>
                  <a:srgbClr val="E2E8F0"/>
                </a:solidFill>
                <a:latin typeface="Segoe UI"/>
              </a:defRPr>
            </a:pPr>
            <a:r>
              <a:t>Carreteras Conectadas</a:t>
            </a:r>
          </a:p>
        </p:txBody>
      </p:sp>
      <p:sp>
        <p:nvSpPr>
          <p:cNvPr id="10" name="Rounded Rectangle 9"/>
          <p:cNvSpPr/>
          <p:nvPr/>
        </p:nvSpPr>
        <p:spPr>
          <a:xfrm>
            <a:off x="731520" y="2971800"/>
            <a:ext cx="5120640" cy="201168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4754880" cy="1828800"/>
          </a:xfrm>
          <a:prstGeom prst="rect">
            <a:avLst/>
          </a:prstGeom>
          <a:noFill/>
        </p:spPr>
        <p:txBody>
          <a:bodyPr wrap="square">
            <a:spAutoFit/>
          </a:bodyPr>
          <a:lstStyle/>
          <a:p>
            <a:pPr>
              <a:defRPr sz="1100" b="1">
                <a:solidFill>
                  <a:srgbClr val="06B6D4"/>
                </a:solidFill>
                <a:latin typeface="Segoe UI"/>
              </a:defRPr>
            </a:pPr>
            <a:r>
              <a:t>SECUENCIA Y CARRETERAS OFICIALES</a:t>
            </a:r>
          </a:p>
          <a:p>
            <a:pPr>
              <a:defRPr sz="1050">
                <a:solidFill>
                  <a:srgbClr val="E2E8F0"/>
                </a:solidFill>
                <a:latin typeface="Segoe UI"/>
              </a:defRPr>
            </a:pPr>
            <a:r>
              <a:t>• 1. QUE → TOT: 28.8 km — RN-1 / RN-1B</a:t>
            </a:r>
          </a:p>
          <a:p>
            <a:pPr>
              <a:defRPr sz="1050">
                <a:solidFill>
                  <a:srgbClr val="E2E8F0"/>
                </a:solidFill>
                <a:latin typeface="Segoe UI"/>
              </a:defRPr>
            </a:pPr>
            <a:r>
              <a:t>• 2. TOT → QUI: 36.2 km — RD QUI-04</a:t>
            </a:r>
          </a:p>
          <a:p>
            <a:pPr>
              <a:defRPr sz="1050">
                <a:solidFill>
                  <a:srgbClr val="E2E8F0"/>
                </a:solidFill>
                <a:latin typeface="Segoe UI"/>
              </a:defRPr>
            </a:pPr>
            <a:r>
              <a:t>• 3. QUI → BVE: 128.6 km — RD QUI-2 / RN-5</a:t>
            </a:r>
          </a:p>
          <a:p>
            <a:pPr>
              <a:defRPr sz="1050">
                <a:solidFill>
                  <a:srgbClr val="E2E8F0"/>
                </a:solidFill>
                <a:latin typeface="Segoe UI"/>
              </a:defRPr>
            </a:pPr>
            <a:r>
              <a:t>• 4. BVE → ZAC: 128.3 km — CA-9 Nor / CA-14</a:t>
            </a:r>
          </a:p>
          <a:p>
            <a:pPr>
              <a:defRPr sz="1050">
                <a:solidFill>
                  <a:srgbClr val="E2E8F0"/>
                </a:solidFill>
                <a:latin typeface="Segoe UI"/>
              </a:defRPr>
            </a:pPr>
            <a:r>
              <a:t>• 5. ZAC → IZA: 172.1 km — CA-9 Nor</a:t>
            </a:r>
          </a:p>
        </p:txBody>
      </p:sp>
      <p:sp>
        <p:nvSpPr>
          <p:cNvPr id="12" name="Rounded Rectangle 11"/>
          <p:cNvSpPr/>
          <p:nvPr/>
        </p:nvSpPr>
        <p:spPr>
          <a:xfrm>
            <a:off x="731520" y="5120640"/>
            <a:ext cx="5120640" cy="12344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212080"/>
            <a:ext cx="4754880" cy="1051560"/>
          </a:xfrm>
          <a:prstGeom prst="rect">
            <a:avLst/>
          </a:prstGeom>
          <a:noFill/>
        </p:spPr>
        <p:txBody>
          <a:bodyPr wrap="square">
            <a:spAutoFit/>
          </a:bodyPr>
          <a:lstStyle/>
          <a:p>
            <a:pPr>
              <a:defRPr sz="1100" b="1">
                <a:solidFill>
                  <a:srgbClr val="F59E0B"/>
                </a:solidFill>
                <a:latin typeface="Segoe UI"/>
              </a:defRPr>
            </a:pPr>
            <a:r>
              <a:t>FÓRMULA ARITMÉTICA DE COMPROBACIÓN</a:t>
            </a:r>
          </a:p>
          <a:p>
            <a:pPr>
              <a:defRPr sz="1300" b="1">
                <a:solidFill>
                  <a:srgbClr val="F8FAFC"/>
                </a:solidFill>
                <a:latin typeface="Consolas"/>
              </a:defRPr>
            </a:pPr>
            <a:r>
              <a:t>28.8 + 36.2 + 128.6 + 128.3 + 172.1 = 494.0 km</a:t>
            </a:r>
          </a:p>
        </p:txBody>
      </p:sp>
      <p:sp>
        <p:nvSpPr>
          <p:cNvPr id="14" name="Rounded Rectangle 13"/>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4-ejemplo-que-iza.png"/>
          <p:cNvPicPr>
            <a:picLocks noChangeAspect="1"/>
          </p:cNvPicPr>
          <p:nvPr/>
        </p:nvPicPr>
        <p:blipFill>
          <a:blip r:embed="rId2"/>
          <a:stretch>
            <a:fillRect/>
          </a:stretch>
        </p:blipFill>
        <p:spPr>
          <a:xfrm>
            <a:off x="6080760" y="2511171"/>
            <a:ext cx="5376672" cy="3024378"/>
          </a:xfrm>
          <a:prstGeom prst="rect">
            <a:avLst/>
          </a:prstGeom>
        </p:spPr>
      </p:pic>
      <p:sp>
        <p:nvSpPr>
          <p:cNvPr id="16" name="TextBox 15"/>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5: Ruta óptima QUE → IZA resaltada en púrpura sobre el mapa de RutaQ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DEMOSTRACIONES DE RUTAS ESTRATÉGICAS 2 Y 3</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Demos 2 y 3: Conexiones Norte y Costa Sur</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Trayectos clave: acceso al departamento más extenso y corredor fronterizo</a:t>
            </a:r>
          </a:p>
        </p:txBody>
      </p:sp>
      <p:sp>
        <p:nvSpPr>
          <p:cNvPr id="6" name="Rounded Rectangle 5"/>
          <p:cNvSpPr/>
          <p:nvPr/>
        </p:nvSpPr>
        <p:spPr>
          <a:xfrm>
            <a:off x="731520" y="1783080"/>
            <a:ext cx="5212080" cy="20574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19"/>
          </a:xfrm>
          <a:prstGeom prst="rect">
            <a:avLst/>
          </a:prstGeom>
          <a:noFill/>
        </p:spPr>
        <p:txBody>
          <a:bodyPr wrap="square">
            <a:spAutoFit/>
          </a:bodyPr>
          <a:lstStyle/>
          <a:p>
            <a:pPr>
              <a:defRPr sz="1100" b="1">
                <a:solidFill>
                  <a:srgbClr val="3B82F6"/>
                </a:solidFill>
                <a:latin typeface="Segoe UI"/>
              </a:defRPr>
            </a:pPr>
            <a:r>
              <a:t>DEMO 2: CIUDAD DE GUATEMALA → FLORES, PETÉN</a:t>
            </a:r>
          </a:p>
          <a:p>
            <a:pPr>
              <a:defRPr sz="1000">
                <a:solidFill>
                  <a:srgbClr val="E2E8F0"/>
                </a:solidFill>
                <a:latin typeface="Segoe UI"/>
              </a:defRPr>
            </a:pPr>
            <a:r>
              <a:t>• Distancia Total: 415.3 km  (3 tramos directos)</a:t>
            </a:r>
            <a:br/>
            <a:r>
              <a:t>• Secuencia Óptima: GUA → BVE → AVE → PET</a:t>
            </a:r>
            <a:br/>
            <a:r>
              <a:t>• Tramos Oficiales:</a:t>
            </a:r>
            <a:br/>
            <a:r>
              <a:t>    - GUA → BVE: 89.0 km (RD BV-12 / RD GUA-12)</a:t>
            </a:r>
            <a:br/>
            <a:r>
              <a:t>    - BVE → AVE: 69.0 km (CA-14 / RN-5)</a:t>
            </a:r>
            <a:br/>
            <a:r>
              <a:t>    - AVE → PET: 257.3 km (RD PET-11 / RD AV-09)</a:t>
            </a:r>
            <a:br/>
            <a:r>
              <a:t>• Fórmula: 89.0 + 69.0 + 257.3 = 415.3 km</a:t>
            </a:r>
          </a:p>
        </p:txBody>
      </p:sp>
      <p:sp>
        <p:nvSpPr>
          <p:cNvPr id="8" name="Rounded Rectangle 7"/>
          <p:cNvSpPr/>
          <p:nvPr/>
        </p:nvSpPr>
        <p:spPr>
          <a:xfrm>
            <a:off x="1228344" y="3895344"/>
            <a:ext cx="4218431" cy="2404872"/>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5-ejemplo-gua-pet.png"/>
          <p:cNvPicPr>
            <a:picLocks noChangeAspect="1"/>
          </p:cNvPicPr>
          <p:nvPr/>
        </p:nvPicPr>
        <p:blipFill>
          <a:blip r:embed="rId2"/>
          <a:stretch>
            <a:fillRect/>
          </a:stretch>
        </p:blipFill>
        <p:spPr>
          <a:xfrm>
            <a:off x="1264920" y="3931920"/>
            <a:ext cx="4145279" cy="2331720"/>
          </a:xfrm>
          <a:prstGeom prst="rect">
            <a:avLst/>
          </a:prstGeom>
        </p:spPr>
      </p:pic>
      <p:sp>
        <p:nvSpPr>
          <p:cNvPr id="10" name="TextBox 9"/>
          <p:cNvSpPr txBox="1"/>
          <p:nvPr/>
        </p:nvSpPr>
        <p:spPr>
          <a:xfrm>
            <a:off x="731520" y="6318504"/>
            <a:ext cx="5212080" cy="292608"/>
          </a:xfrm>
          <a:prstGeom prst="rect">
            <a:avLst/>
          </a:prstGeom>
          <a:noFill/>
        </p:spPr>
        <p:txBody>
          <a:bodyPr wrap="square" lIns="0" rIns="0" tIns="0" bIns="0">
            <a:spAutoFit/>
          </a:bodyPr>
          <a:lstStyle/>
          <a:p>
            <a:pPr algn="ctr">
              <a:defRPr sz="950">
                <a:solidFill>
                  <a:srgbClr val="94A3B8"/>
                </a:solidFill>
                <a:latin typeface="Segoe UI"/>
              </a:defRPr>
            </a:pPr>
            <a:r>
              <a:t>Figura 6: Enlace capital-norte (GUA → PET = 415.3 km)</a:t>
            </a:r>
          </a:p>
        </p:txBody>
      </p:sp>
      <p:sp>
        <p:nvSpPr>
          <p:cNvPr id="11" name="Rounded Rectangle 10"/>
          <p:cNvSpPr/>
          <p:nvPr/>
        </p:nvSpPr>
        <p:spPr>
          <a:xfrm>
            <a:off x="6245352" y="1783080"/>
            <a:ext cx="5212080" cy="20574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874519"/>
            <a:ext cx="4846320" cy="1874519"/>
          </a:xfrm>
          <a:prstGeom prst="rect">
            <a:avLst/>
          </a:prstGeom>
          <a:noFill/>
        </p:spPr>
        <p:txBody>
          <a:bodyPr wrap="square">
            <a:spAutoFit/>
          </a:bodyPr>
          <a:lstStyle/>
          <a:p>
            <a:pPr>
              <a:defRPr sz="1100" b="1">
                <a:solidFill>
                  <a:srgbClr val="10B981"/>
                </a:solidFill>
                <a:latin typeface="Segoe UI"/>
              </a:defRPr>
            </a:pPr>
            <a:r>
              <a:t>DEMO 3: SAN MARCOS → JUTIAPA</a:t>
            </a:r>
          </a:p>
          <a:p>
            <a:pPr>
              <a:defRPr sz="1000">
                <a:solidFill>
                  <a:srgbClr val="E2E8F0"/>
                </a:solidFill>
                <a:latin typeface="Segoe UI"/>
              </a:defRPr>
            </a:pPr>
            <a:r>
              <a:t>• Distancia Total: 368.3 km  (5 tramos por Costa Sur)</a:t>
            </a:r>
            <a:br/>
            <a:r>
              <a:t>• Secuencia Óptima: SMA → QUE → SUC → ESC → SRO → JUT</a:t>
            </a:r>
            <a:br/>
            <a:r>
              <a:t>• Tramos Oficiales:</a:t>
            </a:r>
            <a:br/>
            <a:r>
              <a:t>    - SMA → QUE: 49.6 km (RN-1)  |  QUE → SUC: 60.2 km (CITO-180 / SCH-02)</a:t>
            </a:r>
            <a:br/>
            <a:r>
              <a:t>    - SUC → ESC: 102.5 km (CA-02 OCC)  |  ESC → SRO: 100.0 km (CA-2 OR / RN-16)</a:t>
            </a:r>
            <a:br/>
            <a:r>
              <a:t>    - SRO → JUT: 56.0 km (CA-1 Or)</a:t>
            </a:r>
            <a:br/>
            <a:r>
              <a:t>• Fórmula: 49.6 + 60.2 + 102.5 + 100.0 + 56.0 = 368.3 km</a:t>
            </a:r>
          </a:p>
        </p:txBody>
      </p:sp>
      <p:sp>
        <p:nvSpPr>
          <p:cNvPr id="13" name="Rounded Rectangle 12"/>
          <p:cNvSpPr/>
          <p:nvPr/>
        </p:nvSpPr>
        <p:spPr>
          <a:xfrm>
            <a:off x="6742176" y="3895344"/>
            <a:ext cx="4218431" cy="2404872"/>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06-ejemplo-sma-jut.png"/>
          <p:cNvPicPr>
            <a:picLocks noChangeAspect="1"/>
          </p:cNvPicPr>
          <p:nvPr/>
        </p:nvPicPr>
        <p:blipFill>
          <a:blip r:embed="rId3"/>
          <a:stretch>
            <a:fillRect/>
          </a:stretch>
        </p:blipFill>
        <p:spPr>
          <a:xfrm>
            <a:off x="6778752" y="3931920"/>
            <a:ext cx="4145279" cy="2331720"/>
          </a:xfrm>
          <a:prstGeom prst="rect">
            <a:avLst/>
          </a:prstGeom>
        </p:spPr>
      </p:pic>
      <p:sp>
        <p:nvSpPr>
          <p:cNvPr id="15" name="TextBox 14"/>
          <p:cNvSpPr txBox="1"/>
          <p:nvPr/>
        </p:nvSpPr>
        <p:spPr>
          <a:xfrm>
            <a:off x="6245352" y="6318504"/>
            <a:ext cx="5212080" cy="292608"/>
          </a:xfrm>
          <a:prstGeom prst="rect">
            <a:avLst/>
          </a:prstGeom>
          <a:noFill/>
        </p:spPr>
        <p:txBody>
          <a:bodyPr wrap="square" lIns="0" rIns="0" tIns="0" bIns="0">
            <a:spAutoFit/>
          </a:bodyPr>
          <a:lstStyle/>
          <a:p>
            <a:pPr algn="ctr">
              <a:defRPr sz="950">
                <a:solidFill>
                  <a:srgbClr val="94A3B8"/>
                </a:solidFill>
                <a:latin typeface="Segoe UI"/>
              </a:defRPr>
            </a:pPr>
            <a:r>
              <a:t>Figura 7: Corredor Costa Sur y frontera oriental (SMA → JUT = 368.3 km)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INFRAESTRUCTURA Y ÁRBOL DE EXPANSIÓN MÍNIMA</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Red Mínima Nacional: Prim y Kruskal</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Infraestructura vial mínima para mantener comunicados los 22 departamentos</a:t>
            </a:r>
          </a:p>
        </p:txBody>
      </p:sp>
      <p:sp>
        <p:nvSpPr>
          <p:cNvPr id="6" name="Rounded Rectangle 5"/>
          <p:cNvSpPr/>
          <p:nvPr/>
        </p:nvSpPr>
        <p:spPr>
          <a:xfrm>
            <a:off x="731520" y="1783080"/>
            <a:ext cx="2468880" cy="1051560"/>
          </a:xfrm>
          <a:prstGeom prst="roundRect">
            <a:avLst/>
          </a:prstGeom>
          <a:solidFill>
            <a:srgbClr val="18202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56232"/>
            <a:ext cx="2249424" cy="905256"/>
          </a:xfrm>
          <a:prstGeom prst="rect">
            <a:avLst/>
          </a:prstGeom>
          <a:noFill/>
        </p:spPr>
        <p:txBody>
          <a:bodyPr wrap="square" lIns="0" tIns="0" rIns="0" bIns="0">
            <a:spAutoFit/>
          </a:bodyPr>
          <a:lstStyle/>
          <a:p>
            <a:pPr algn="ctr">
              <a:defRPr sz="2400" b="1">
                <a:solidFill>
                  <a:srgbClr val="10B981"/>
                </a:solidFill>
                <a:latin typeface="Segoe UI"/>
              </a:defRPr>
            </a:pPr>
            <a:r>
              <a:t>21 Carreteras</a:t>
            </a:r>
          </a:p>
          <a:p>
            <a:pPr algn="ctr">
              <a:defRPr sz="1050" b="1">
                <a:solidFill>
                  <a:srgbClr val="E2E8F0"/>
                </a:solidFill>
                <a:latin typeface="Segoe UI"/>
              </a:defRPr>
            </a:pPr>
            <a:r>
              <a:t>Aristas del Árbol (V - 1)</a:t>
            </a:r>
          </a:p>
        </p:txBody>
      </p:sp>
      <p:sp>
        <p:nvSpPr>
          <p:cNvPr id="8" name="Rounded Rectangle 7"/>
          <p:cNvSpPr/>
          <p:nvPr/>
        </p:nvSpPr>
        <p:spPr>
          <a:xfrm>
            <a:off x="3383280" y="1783080"/>
            <a:ext cx="2468880" cy="1051560"/>
          </a:xfrm>
          <a:prstGeom prst="roundRect">
            <a:avLst/>
          </a:prstGeom>
          <a:solidFill>
            <a:srgbClr val="18202F"/>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3008" y="1856232"/>
            <a:ext cx="2249424" cy="905256"/>
          </a:xfrm>
          <a:prstGeom prst="rect">
            <a:avLst/>
          </a:prstGeom>
          <a:noFill/>
        </p:spPr>
        <p:txBody>
          <a:bodyPr wrap="square" lIns="0" tIns="0" rIns="0" bIns="0">
            <a:spAutoFit/>
          </a:bodyPr>
          <a:lstStyle/>
          <a:p>
            <a:pPr algn="ctr">
              <a:defRPr sz="2400" b="1">
                <a:solidFill>
                  <a:srgbClr val="3B82F6"/>
                </a:solidFill>
                <a:latin typeface="Segoe UI"/>
              </a:defRPr>
            </a:pPr>
            <a:r>
              <a:t>1 425.3 km</a:t>
            </a:r>
          </a:p>
          <a:p>
            <a:pPr algn="ctr">
              <a:defRPr sz="1050" b="1">
                <a:solidFill>
                  <a:srgbClr val="E2E8F0"/>
                </a:solidFill>
                <a:latin typeface="Segoe UI"/>
              </a:defRPr>
            </a:pPr>
            <a:r>
              <a:t>Longitud Mínima Total</a:t>
            </a:r>
          </a:p>
        </p:txBody>
      </p:sp>
      <p:sp>
        <p:nvSpPr>
          <p:cNvPr id="10" name="Rounded Rectangle 9"/>
          <p:cNvSpPr/>
          <p:nvPr/>
        </p:nvSpPr>
        <p:spPr>
          <a:xfrm>
            <a:off x="731520" y="2971800"/>
            <a:ext cx="5120640" cy="196596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4754880" cy="1783080"/>
          </a:xfrm>
          <a:prstGeom prst="rect">
            <a:avLst/>
          </a:prstGeom>
          <a:noFill/>
        </p:spPr>
        <p:txBody>
          <a:bodyPr wrap="square">
            <a:spAutoFit/>
          </a:bodyPr>
          <a:lstStyle/>
          <a:p>
            <a:pPr>
              <a:defRPr sz="1100" b="1">
                <a:solidFill>
                  <a:srgbClr val="06B6D4"/>
                </a:solidFill>
                <a:latin typeface="Segoe UI"/>
              </a:defRPr>
            </a:pPr>
            <a:r>
              <a:t>IMPLEMENTACIÓN DUAL DETERMINISTA</a:t>
            </a:r>
          </a:p>
          <a:p>
            <a:pPr>
              <a:defRPr sz="1050">
                <a:solidFill>
                  <a:srgbClr val="E2E8F0"/>
                </a:solidFill>
                <a:latin typeface="Segoe UI"/>
              </a:defRPr>
            </a:pPr>
            <a:r>
              <a:t>• Algoritmo de Prim: Expansión voraz por corte iniciando desde una cabecera raíz, incorporando siempre la arista incidente de menor peso.</a:t>
            </a:r>
            <a:br/>
            <a:r>
              <a:t>• Algoritmo de Kruskal: Ordenamiento global de todas las aristas con estructura Union-Find (bosque disjunto) para prevenir ciclos.</a:t>
            </a:r>
            <a:br/>
            <a:r>
              <a:t>• Coincidencia Determinista: Ambos algoritmos producen idéntica longitud total de 1 425.3 km y las mismas 21 carreteras troncales.</a:t>
            </a:r>
          </a:p>
        </p:txBody>
      </p:sp>
      <p:sp>
        <p:nvSpPr>
          <p:cNvPr id="12" name="Rounded Rectangle 11"/>
          <p:cNvSpPr/>
          <p:nvPr/>
        </p:nvSpPr>
        <p:spPr>
          <a:xfrm>
            <a:off x="731520" y="5029200"/>
            <a:ext cx="5120640" cy="132588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120640"/>
            <a:ext cx="4754880" cy="1143000"/>
          </a:xfrm>
          <a:prstGeom prst="rect">
            <a:avLst/>
          </a:prstGeom>
          <a:noFill/>
        </p:spPr>
        <p:txBody>
          <a:bodyPr wrap="square">
            <a:spAutoFit/>
          </a:bodyPr>
          <a:lstStyle/>
          <a:p>
            <a:pPr>
              <a:defRPr sz="1100" b="1">
                <a:solidFill>
                  <a:srgbClr val="F59E0B"/>
                </a:solidFill>
                <a:latin typeface="Segoe UI"/>
              </a:defRPr>
            </a:pPr>
            <a:r>
              <a:t>¿RUTA MÁS CORTA VS. ÁRBOL DE EXPANSIÓN MÍNIMA?</a:t>
            </a:r>
          </a:p>
          <a:p>
            <a:pPr>
              <a:defRPr sz="1000">
                <a:solidFill>
                  <a:srgbClr val="E2E8F0"/>
                </a:solidFill>
                <a:latin typeface="Segoe UI"/>
              </a:defRPr>
            </a:pPr>
            <a:r>
              <a:t>• Ruta Más Corta (Dijkstra): Minimiza la distancia entre un par específico origen-destino.</a:t>
            </a:r>
            <a:br/>
            <a:r>
              <a:t>• AEM (Prim/Kruskal): Minimiza la suma global de kilómetros de asfalto para conectar todos los nodos sin ciclos. Un camino dentro del AEM no siempre es la ruta más corta punto a punto.</a:t>
            </a:r>
          </a:p>
        </p:txBody>
      </p:sp>
      <p:sp>
        <p:nvSpPr>
          <p:cNvPr id="14" name="Rounded Rectangle 13"/>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7-red-minima-prim.png"/>
          <p:cNvPicPr>
            <a:picLocks noChangeAspect="1"/>
          </p:cNvPicPr>
          <p:nvPr/>
        </p:nvPicPr>
        <p:blipFill>
          <a:blip r:embed="rId2"/>
          <a:stretch>
            <a:fillRect/>
          </a:stretch>
        </p:blipFill>
        <p:spPr>
          <a:xfrm>
            <a:off x="6080760" y="2511171"/>
            <a:ext cx="5376672" cy="3024378"/>
          </a:xfrm>
          <a:prstGeom prst="rect">
            <a:avLst/>
          </a:prstGeom>
        </p:spPr>
      </p:pic>
      <p:sp>
        <p:nvSpPr>
          <p:cNvPr id="16" name="TextBox 15"/>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8: Árbol de Expansión Mínima (1 425.3 km y 21 aristas) en el mapa nacional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ARQUITECTURA Y USABILIDAD DEL SOFTWARE</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Funcionalidades del Sistema RutaQ</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Herramientas especializadas para despachadores, administradores y docencia</a:t>
            </a:r>
          </a:p>
        </p:txBody>
      </p:sp>
      <p:sp>
        <p:nvSpPr>
          <p:cNvPr id="6" name="Rounded Rectangle 5"/>
          <p:cNvSpPr/>
          <p:nvPr/>
        </p:nvSpPr>
        <p:spPr>
          <a:xfrm>
            <a:off x="731520" y="178308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754880" cy="1965960"/>
          </a:xfrm>
          <a:prstGeom prst="rect">
            <a:avLst/>
          </a:prstGeom>
          <a:noFill/>
        </p:spPr>
        <p:txBody>
          <a:bodyPr wrap="square">
            <a:spAutoFit/>
          </a:bodyPr>
          <a:lstStyle/>
          <a:p>
            <a:pPr>
              <a:defRPr sz="1150" b="1">
                <a:solidFill>
                  <a:srgbClr val="10B981"/>
                </a:solidFill>
                <a:latin typeface="Segoe UI"/>
              </a:defRPr>
            </a:pPr>
            <a:r>
              <a:t>1. ASISTENTE TRANSPORTE EXPRESS</a:t>
            </a:r>
          </a:p>
          <a:p>
            <a:pPr>
              <a:defRPr sz="1100">
                <a:solidFill>
                  <a:srgbClr val="E2E8F0"/>
                </a:solidFill>
                <a:latin typeface="Segoe UI"/>
              </a:defRPr>
            </a:pPr>
            <a:r>
              <a:t>• Flujo guiado de 2 pasos («¿Dónde está?» y «¿A dónde va?»).</a:t>
            </a:r>
            <a:br/>
            <a:r>
              <a:t>• Selección táctil directa sobre el mapa o mediante menús desplegables.</a:t>
            </a:r>
            <a:br/>
            <a:r>
              <a:t>• Desglose interactivo con kilometraje acumulado, vías y fórmula de cálculo.</a:t>
            </a:r>
          </a:p>
        </p:txBody>
      </p:sp>
      <p:sp>
        <p:nvSpPr>
          <p:cNvPr id="8" name="Rounded Rectangle 7"/>
          <p:cNvSpPr/>
          <p:nvPr/>
        </p:nvSpPr>
        <p:spPr>
          <a:xfrm>
            <a:off x="6217920" y="178308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754880" cy="1965960"/>
          </a:xfrm>
          <a:prstGeom prst="rect">
            <a:avLst/>
          </a:prstGeom>
          <a:noFill/>
        </p:spPr>
        <p:txBody>
          <a:bodyPr wrap="square">
            <a:spAutoFit/>
          </a:bodyPr>
          <a:lstStyle/>
          <a:p>
            <a:pPr>
              <a:defRPr sz="1150" b="1">
                <a:solidFill>
                  <a:srgbClr val="3B82F6"/>
                </a:solidFill>
                <a:latin typeface="Segoe UI"/>
              </a:defRPr>
            </a:pPr>
            <a:r>
              <a:t>2. ADMINISTRADOR DE RED VIAL</a:t>
            </a:r>
          </a:p>
          <a:p>
            <a:pPr>
              <a:defRPr sz="1100">
                <a:solidFill>
                  <a:srgbClr val="E2E8F0"/>
                </a:solidFill>
                <a:latin typeface="Segoe UI"/>
              </a:defRPr>
            </a:pPr>
            <a:r>
              <a:t>• Agregar, editar, eliminar y buscar departamentos y carreteras con validaciones.</a:t>
            </a:r>
            <a:br/>
            <a:r>
              <a:t>• Al eliminar una carretera la ruta se recalcula al instante.</a:t>
            </a:r>
            <a:br/>
            <a:r>
              <a:t>• Aviso y alerta automática si la red vial queda desconectada.</a:t>
            </a:r>
          </a:p>
        </p:txBody>
      </p:sp>
      <p:sp>
        <p:nvSpPr>
          <p:cNvPr id="10" name="Rounded Rectangle 9"/>
          <p:cNvSpPr/>
          <p:nvPr/>
        </p:nvSpPr>
        <p:spPr>
          <a:xfrm>
            <a:off x="731520" y="411480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06240"/>
            <a:ext cx="4754880" cy="1965960"/>
          </a:xfrm>
          <a:prstGeom prst="rect">
            <a:avLst/>
          </a:prstGeom>
          <a:noFill/>
        </p:spPr>
        <p:txBody>
          <a:bodyPr wrap="square">
            <a:spAutoFit/>
          </a:bodyPr>
          <a:lstStyle/>
          <a:p>
            <a:pPr>
              <a:defRPr sz="1150" b="1">
                <a:solidFill>
                  <a:srgbClr val="A855F7"/>
                </a:solidFill>
                <a:latin typeface="Segoe UI"/>
              </a:defRPr>
            </a:pPr>
            <a:r>
              <a:t>3. EJECUCIÓN TABULADA PASO A PASO</a:t>
            </a:r>
          </a:p>
          <a:p>
            <a:pPr>
              <a:defRPr sz="1100">
                <a:solidFill>
                  <a:srgbClr val="E2E8F0"/>
                </a:solidFill>
                <a:latin typeface="Segoe UI"/>
              </a:defRPr>
            </a:pPr>
            <a:r>
              <a:t>• Tablas pedagógicas que replican el formato exacto enseñado en clase.</a:t>
            </a:r>
            <a:br/>
            <a:r>
              <a:t>• Detalle de aristas consideradas, peso, nodos incorporados y descarte por ciclo.</a:t>
            </a:r>
            <a:br/>
            <a:r>
              <a:t>• Pestañas independientes para Dijkstra, Prim, Kruskal y Floyd-Warshall.</a:t>
            </a:r>
          </a:p>
        </p:txBody>
      </p:sp>
      <p:sp>
        <p:nvSpPr>
          <p:cNvPr id="12" name="Rounded Rectangle 11"/>
          <p:cNvSpPr/>
          <p:nvPr/>
        </p:nvSpPr>
        <p:spPr>
          <a:xfrm>
            <a:off x="6217920" y="411480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06240"/>
            <a:ext cx="4754880" cy="1965960"/>
          </a:xfrm>
          <a:prstGeom prst="rect">
            <a:avLst/>
          </a:prstGeom>
          <a:noFill/>
        </p:spPr>
        <p:txBody>
          <a:bodyPr wrap="square">
            <a:spAutoFit/>
          </a:bodyPr>
          <a:lstStyle/>
          <a:p>
            <a:pPr>
              <a:defRPr sz="1150" b="1">
                <a:solidFill>
                  <a:srgbClr val="F59E0B"/>
                </a:solidFill>
                <a:latin typeface="Segoe UI"/>
              </a:defRPr>
            </a:pPr>
            <a:r>
              <a:t>4. MODO PRESENTACIÓN Y RESPONSIVE</a:t>
            </a:r>
          </a:p>
          <a:p>
            <a:pPr>
              <a:defRPr sz="1100">
                <a:solidFill>
                  <a:srgbClr val="E2E8F0"/>
                </a:solidFill>
                <a:latin typeface="Segoe UI"/>
              </a:defRPr>
            </a:pPr>
            <a:r>
              <a:t>• Vista optimizada para proyectores de aula (16:9) y pantallas widescreen.</a:t>
            </a:r>
            <a:br/>
            <a:r>
              <a:t>• Interfaz 100 % adaptativa para teléfonos móviles, tablets y computadoras.</a:t>
            </a:r>
            <a:br/>
            <a:r>
              <a:t>• Atajos de teclado (F para pantalla completa, flechas de navegación).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AUDITORÍA TÉCNICA Y ASEGURAMIENTO DE CALIDAD</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Verificación Computacional y Rendimiento Web</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Validación científica cruzada con NetworkX y pruebas de regresión automatizadas</a:t>
            </a:r>
          </a:p>
        </p:txBody>
      </p:sp>
      <p:sp>
        <p:nvSpPr>
          <p:cNvPr id="6" name="Rounded Rectangle 5"/>
          <p:cNvSpPr/>
          <p:nvPr/>
        </p:nvSpPr>
        <p:spPr>
          <a:xfrm>
            <a:off x="731520" y="1783080"/>
            <a:ext cx="5120640" cy="13716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754880" cy="1188720"/>
          </a:xfrm>
          <a:prstGeom prst="rect">
            <a:avLst/>
          </a:prstGeom>
          <a:noFill/>
        </p:spPr>
        <p:txBody>
          <a:bodyPr wrap="square">
            <a:spAutoFit/>
          </a:bodyPr>
          <a:lstStyle/>
          <a:p>
            <a:pPr>
              <a:defRPr sz="1300" b="1">
                <a:solidFill>
                  <a:srgbClr val="10B981"/>
                </a:solidFill>
                <a:latin typeface="Segoe UI"/>
              </a:defRPr>
            </a:pPr>
            <a:r>
              <a:t>1 168 / 1 168  Pares Verificados con NetworkX</a:t>
            </a:r>
          </a:p>
          <a:p>
            <a:pPr>
              <a:defRPr sz="1050">
                <a:solidFill>
                  <a:srgbClr val="E2E8F0"/>
                </a:solidFill>
                <a:latin typeface="Segoe UI"/>
              </a:defRPr>
            </a:pPr>
            <a:r>
              <a:t>• Contraste del 100 % de caminos mínimos contra Python NetworkX: 0 discrepancias.</a:t>
            </a:r>
            <a:br/>
            <a:r>
              <a:t>• 10 / 10 instancias de Árbol de Expansión Mínima idénticas a networkx.mst.</a:t>
            </a:r>
          </a:p>
        </p:txBody>
      </p:sp>
      <p:sp>
        <p:nvSpPr>
          <p:cNvPr id="8" name="Rounded Rectangle 7"/>
          <p:cNvSpPr/>
          <p:nvPr/>
        </p:nvSpPr>
        <p:spPr>
          <a:xfrm>
            <a:off x="731520" y="3291840"/>
            <a:ext cx="5120640" cy="137160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83280"/>
            <a:ext cx="4754880" cy="1188720"/>
          </a:xfrm>
          <a:prstGeom prst="rect">
            <a:avLst/>
          </a:prstGeom>
          <a:noFill/>
        </p:spPr>
        <p:txBody>
          <a:bodyPr wrap="square">
            <a:spAutoFit/>
          </a:bodyPr>
          <a:lstStyle/>
          <a:p>
            <a:pPr>
              <a:defRPr sz="1300" b="1">
                <a:solidFill>
                  <a:srgbClr val="3B82F6"/>
                </a:solidFill>
                <a:latin typeface="Segoe UI"/>
              </a:defRPr>
            </a:pPr>
            <a:r>
              <a:t>148 / 148  Pruebas Automatizadas (Playwright E2E)</a:t>
            </a:r>
          </a:p>
          <a:p>
            <a:pPr>
              <a:defRPr sz="1050">
                <a:solidFill>
                  <a:srgbClr val="E2E8F0"/>
                </a:solidFill>
                <a:latin typeface="Segoe UI"/>
              </a:defRPr>
            </a:pPr>
            <a:r>
              <a:t>• Suite de pruebas de regresión funcional, visual y de estado en 4 dispositivos.</a:t>
            </a:r>
            <a:br/>
            <a:r>
              <a:t>• Pruebas ejecutadas en Desktop Chrome, iPhone 13 (WebKit), Pixel 7 e iPad.</a:t>
            </a:r>
          </a:p>
        </p:txBody>
      </p:sp>
      <p:sp>
        <p:nvSpPr>
          <p:cNvPr id="10" name="Rounded Rectangle 9"/>
          <p:cNvSpPr/>
          <p:nvPr/>
        </p:nvSpPr>
        <p:spPr>
          <a:xfrm>
            <a:off x="731520" y="4800600"/>
            <a:ext cx="5120640" cy="150876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892040"/>
            <a:ext cx="4754880" cy="1325880"/>
          </a:xfrm>
          <a:prstGeom prst="rect">
            <a:avLst/>
          </a:prstGeom>
          <a:noFill/>
        </p:spPr>
        <p:txBody>
          <a:bodyPr wrap="square">
            <a:spAutoFit/>
          </a:bodyPr>
          <a:lstStyle/>
          <a:p>
            <a:pPr>
              <a:defRPr sz="1300" b="1">
                <a:solidFill>
                  <a:srgbClr val="F59E0B"/>
                </a:solidFill>
                <a:latin typeface="Segoe UI"/>
              </a:defRPr>
            </a:pPr>
            <a:r>
              <a:t>Google Lighthouse: Evaluación de Rendimiento</a:t>
            </a:r>
          </a:p>
          <a:p>
            <a:pPr>
              <a:defRPr sz="1050">
                <a:solidFill>
                  <a:srgbClr val="E2E8F0"/>
                </a:solidFill>
                <a:latin typeface="Segoe UI"/>
              </a:defRPr>
            </a:pPr>
            <a:r>
              <a:t>• Rendimiento (Performance): 91 / 100</a:t>
            </a:r>
            <a:br/>
            <a:r>
              <a:t>• Accesibilidad (Accessibility): 95 / 100</a:t>
            </a:r>
            <a:br/>
            <a:r>
              <a:t>• Mejores Prácticas (Best Practices): 100 / 100</a:t>
            </a:r>
            <a:br/>
            <a:r>
              <a:t>• Optimización en Motores de Búsqueda (SEO): 100 / 100</a:t>
            </a:r>
          </a:p>
        </p:txBody>
      </p:sp>
      <p:sp>
        <p:nvSpPr>
          <p:cNvPr id="12" name="Rounded Rectangle 11"/>
          <p:cNvSpPr/>
          <p:nvPr/>
        </p:nvSpPr>
        <p:spPr>
          <a:xfrm>
            <a:off x="6044184" y="2474595"/>
            <a:ext cx="5449824" cy="3097530"/>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10-acerca-de.png"/>
          <p:cNvPicPr>
            <a:picLocks noChangeAspect="1"/>
          </p:cNvPicPr>
          <p:nvPr/>
        </p:nvPicPr>
        <p:blipFill>
          <a:blip r:embed="rId2"/>
          <a:stretch>
            <a:fillRect/>
          </a:stretch>
        </p:blipFill>
        <p:spPr>
          <a:xfrm>
            <a:off x="6080760" y="2511171"/>
            <a:ext cx="5376672" cy="3024378"/>
          </a:xfrm>
          <a:prstGeom prst="rect">
            <a:avLst/>
          </a:prstGeom>
        </p:spPr>
      </p:pic>
      <p:sp>
        <p:nvSpPr>
          <p:cNvPr id="14" name="TextBox 13"/>
          <p:cNvSpPr txBox="1"/>
          <p:nvPr/>
        </p:nvSpPr>
        <p:spPr>
          <a:xfrm>
            <a:off x="6080760" y="5590413"/>
            <a:ext cx="5376672" cy="292608"/>
          </a:xfrm>
          <a:prstGeom prst="rect">
            <a:avLst/>
          </a:prstGeom>
          <a:noFill/>
        </p:spPr>
        <p:txBody>
          <a:bodyPr wrap="square" lIns="0" rIns="0" tIns="0" bIns="0">
            <a:spAutoFit/>
          </a:bodyPr>
          <a:lstStyle/>
          <a:p>
            <a:pPr algn="ctr">
              <a:defRPr sz="950">
                <a:solidFill>
                  <a:srgbClr val="94A3B8"/>
                </a:solidFill>
                <a:latin typeface="Segoe UI"/>
              </a:defRPr>
            </a:pPr>
            <a:r>
              <a:t>Figura 9: Modal Acerca de con especificaciones técnicas y créditos en RutaQ</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3108960" cy="274320"/>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SÍNTESIS DEL PROYECTO</a:t>
            </a:r>
          </a:p>
        </p:txBody>
      </p:sp>
      <p:sp>
        <p:nvSpPr>
          <p:cNvPr id="4" name="TextBox 3"/>
          <p:cNvSpPr txBox="1"/>
          <p:nvPr/>
        </p:nvSpPr>
        <p:spPr>
          <a:xfrm>
            <a:off x="731520" y="694944"/>
            <a:ext cx="10698480" cy="594360"/>
          </a:xfrm>
          <a:prstGeom prst="rect">
            <a:avLst/>
          </a:prstGeom>
          <a:noFill/>
        </p:spPr>
        <p:txBody>
          <a:bodyPr wrap="square" lIns="0" tIns="0" rIns="0" bIns="0">
            <a:spAutoFit/>
          </a:bodyPr>
          <a:lstStyle/>
          <a:p>
            <a:pPr>
              <a:defRPr sz="2600" b="1">
                <a:solidFill>
                  <a:srgbClr val="F8FAFC"/>
                </a:solidFill>
                <a:latin typeface="Segoe UI"/>
              </a:defRPr>
            </a:pPr>
            <a:r>
              <a:t>Conclusiones y Logros Alcanzados</a:t>
            </a:r>
          </a:p>
        </p:txBody>
      </p:sp>
      <p:sp>
        <p:nvSpPr>
          <p:cNvPr id="5" name="TextBox 4"/>
          <p:cNvSpPr txBox="1"/>
          <p:nvPr/>
        </p:nvSpPr>
        <p:spPr>
          <a:xfrm>
            <a:off x="731520" y="1261872"/>
            <a:ext cx="10698480" cy="365760"/>
          </a:xfrm>
          <a:prstGeom prst="rect">
            <a:avLst/>
          </a:prstGeom>
          <a:noFill/>
        </p:spPr>
        <p:txBody>
          <a:bodyPr wrap="square" lIns="0" tIns="0" rIns="0" bIns="0">
            <a:spAutoFit/>
          </a:bodyPr>
          <a:lstStyle/>
          <a:p>
            <a:pPr>
              <a:defRPr sz="1300">
                <a:solidFill>
                  <a:srgbClr val="94A3B8"/>
                </a:solidFill>
                <a:latin typeface="Segoe UI"/>
              </a:defRPr>
            </a:pPr>
            <a:r>
              <a:t>Impacto operativo, rigor cartográfico y excelencia en ingeniería de software</a:t>
            </a:r>
          </a:p>
        </p:txBody>
      </p:sp>
      <p:sp>
        <p:nvSpPr>
          <p:cNvPr id="6" name="Rounded Rectangle 5"/>
          <p:cNvSpPr/>
          <p:nvPr/>
        </p:nvSpPr>
        <p:spPr>
          <a:xfrm>
            <a:off x="731520" y="178308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4663440" cy="1965960"/>
          </a:xfrm>
          <a:prstGeom prst="rect">
            <a:avLst/>
          </a:prstGeom>
          <a:noFill/>
        </p:spPr>
        <p:txBody>
          <a:bodyPr wrap="square">
            <a:spAutoFit/>
          </a:bodyPr>
          <a:lstStyle/>
          <a:p>
            <a:pPr>
              <a:defRPr sz="1150" b="1">
                <a:solidFill>
                  <a:srgbClr val="10B981"/>
                </a:solidFill>
                <a:latin typeface="Segoe UI"/>
              </a:defRPr>
            </a:pPr>
            <a:r>
              <a:t>1. RESOLUCIÓN DE LA PROBLEMÁTICA REAL</a:t>
            </a:r>
          </a:p>
          <a:p>
            <a:pPr>
              <a:defRPr sz="1100">
                <a:solidFill>
                  <a:srgbClr val="E2E8F0"/>
                </a:solidFill>
                <a:latin typeface="Segoe UI"/>
              </a:defRPr>
            </a:pPr>
            <a:r>
              <a:t>• Transporte Express erradica la selección empírica de rutas por hábitos individuales.</a:t>
            </a:r>
            <a:br/>
            <a:r>
              <a:t>• El algoritmo de Dijkstra garantiza trayectos óptimos con ahorro de combustible y reducción en tiempos de entrega.</a:t>
            </a:r>
            <a:br/>
            <a:r>
              <a:t>• La hoja de ruta automatizada guía al conductor tramo a tramo con transparencia.</a:t>
            </a:r>
          </a:p>
        </p:txBody>
      </p:sp>
      <p:sp>
        <p:nvSpPr>
          <p:cNvPr id="8" name="Rounded Rectangle 7"/>
          <p:cNvSpPr/>
          <p:nvPr/>
        </p:nvSpPr>
        <p:spPr>
          <a:xfrm>
            <a:off x="6217920" y="178308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874519"/>
            <a:ext cx="4663440" cy="1965960"/>
          </a:xfrm>
          <a:prstGeom prst="rect">
            <a:avLst/>
          </a:prstGeom>
          <a:noFill/>
        </p:spPr>
        <p:txBody>
          <a:bodyPr wrap="square">
            <a:spAutoFit/>
          </a:bodyPr>
          <a:lstStyle/>
          <a:p>
            <a:pPr>
              <a:defRPr sz="1150" b="1">
                <a:solidFill>
                  <a:srgbClr val="3B82F6"/>
                </a:solidFill>
                <a:latin typeface="Segoe UI"/>
              </a:defRPr>
            </a:pPr>
            <a:r>
              <a:t>2. RIGOR CARTOGRÁFICO Y REPRODUCIBILIDAD</a:t>
            </a:r>
          </a:p>
          <a:p>
            <a:pPr>
              <a:defRPr sz="1100">
                <a:solidFill>
                  <a:srgbClr val="E2E8F0"/>
                </a:solidFill>
                <a:latin typeface="Segoe UI"/>
              </a:defRPr>
            </a:pPr>
            <a:r>
              <a:t>• Grafo no dirigido de 22 cabeceras y 49 carreteras directas sustentado en OpenStreetMap.</a:t>
            </a:r>
            <a:br/>
            <a:r>
              <a:t>• Auditoría 49/49 en Google Maps que valida la precisión de cada distancia utilizada.</a:t>
            </a:r>
            <a:br/>
            <a:r>
              <a:t>• Inclusión estratégica del tramo IZA–PET (287.0 km) por la CA-13 para evitar desvíos falsos.</a:t>
            </a:r>
          </a:p>
        </p:txBody>
      </p:sp>
      <p:sp>
        <p:nvSpPr>
          <p:cNvPr id="10" name="Rounded Rectangle 9"/>
          <p:cNvSpPr/>
          <p:nvPr/>
        </p:nvSpPr>
        <p:spPr>
          <a:xfrm>
            <a:off x="731520" y="411480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206240"/>
            <a:ext cx="4663440" cy="1965960"/>
          </a:xfrm>
          <a:prstGeom prst="rect">
            <a:avLst/>
          </a:prstGeom>
          <a:noFill/>
        </p:spPr>
        <p:txBody>
          <a:bodyPr wrap="square">
            <a:spAutoFit/>
          </a:bodyPr>
          <a:lstStyle/>
          <a:p>
            <a:pPr>
              <a:defRPr sz="1150" b="1">
                <a:solidFill>
                  <a:srgbClr val="A855F7"/>
                </a:solidFill>
                <a:latin typeface="Segoe UI"/>
              </a:defRPr>
            </a:pPr>
            <a:r>
              <a:t>3. DOMINIO ALGORÍTMICO INTEGRAL</a:t>
            </a:r>
          </a:p>
          <a:p>
            <a:pPr>
              <a:defRPr sz="1100">
                <a:solidFill>
                  <a:srgbClr val="E2E8F0"/>
                </a:solidFill>
                <a:latin typeface="Segoe UI"/>
              </a:defRPr>
            </a:pPr>
            <a:r>
              <a:t>• Coexistencia armónica: Dijkstra para encomiendas puntuales y Prim/Kruskal para red troncal.</a:t>
            </a:r>
            <a:br/>
            <a:r>
              <a:t>• Ambos algoritmos de MST coinciden deterministamente en 21 carreteras y 1 425.3 km.</a:t>
            </a:r>
            <a:br/>
            <a:r>
              <a:t>• Comprensión clara de la frontera teórica: por qué Dijkstra no admite pesos negativos.</a:t>
            </a:r>
          </a:p>
        </p:txBody>
      </p:sp>
      <p:sp>
        <p:nvSpPr>
          <p:cNvPr id="12" name="Rounded Rectangle 11"/>
          <p:cNvSpPr/>
          <p:nvPr/>
        </p:nvSpPr>
        <p:spPr>
          <a:xfrm>
            <a:off x="6217920" y="4114800"/>
            <a:ext cx="5120640" cy="2148840"/>
          </a:xfrm>
          <a:prstGeom prst="roundRect">
            <a:avLst/>
          </a:prstGeom>
          <a:solidFill>
            <a:srgbClr val="18202F"/>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4206240"/>
            <a:ext cx="4663440" cy="1965960"/>
          </a:xfrm>
          <a:prstGeom prst="rect">
            <a:avLst/>
          </a:prstGeom>
          <a:noFill/>
        </p:spPr>
        <p:txBody>
          <a:bodyPr wrap="square">
            <a:spAutoFit/>
          </a:bodyPr>
          <a:lstStyle/>
          <a:p>
            <a:pPr>
              <a:defRPr sz="1150" b="1">
                <a:solidFill>
                  <a:srgbClr val="F59E0B"/>
                </a:solidFill>
                <a:latin typeface="Segoe UI"/>
              </a:defRPr>
            </a:pPr>
            <a:r>
              <a:t>4. CALIDAD DE INGENIERÍA DE SOFTWARE</a:t>
            </a:r>
          </a:p>
          <a:p>
            <a:pPr>
              <a:defRPr sz="1100">
                <a:solidFill>
                  <a:srgbClr val="E2E8F0"/>
                </a:solidFill>
                <a:latin typeface="Segoe UI"/>
              </a:defRPr>
            </a:pPr>
            <a:r>
              <a:t>• Arquitectura modular 100 % TypeScript, reactiva y ejecutable directamente en el navegador.</a:t>
            </a:r>
            <a:br/>
            <a:r>
              <a:t>• Verificación cruzada contra NetworkX (1 168/1 168) y 148 pruebas automatizadas Playwright.</a:t>
            </a:r>
            <a:br/>
            <a:r>
              <a:t>• Despliegue web activo, accesible y con código abierto para auditoría comunitaria.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48640"/>
            <a:ext cx="10728655" cy="5760720"/>
          </a:xfrm>
          <a:prstGeom prst="roundRect">
            <a:avLst/>
          </a:prstGeom>
          <a:solidFill>
            <a:srgbClr val="18202F"/>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1005840"/>
            <a:ext cx="4754880" cy="310896"/>
          </a:xfrm>
          <a:prstGeom prst="round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lIns="109728" rIns="109728" tIns="0" bIns="0"/>
          <a:lstStyle/>
          <a:p>
            <a:pPr algn="l">
              <a:defRPr sz="950" b="1">
                <a:solidFill>
                  <a:srgbClr val="10B981"/>
                </a:solidFill>
                <a:latin typeface="Segoe UI"/>
              </a:defRPr>
            </a:pPr>
            <a:r>
              <a:t>SESIÓN DE PREGUNTAS Y DEMOSTRACIÓN EN VIVO</a:t>
            </a:r>
          </a:p>
        </p:txBody>
      </p:sp>
      <p:sp>
        <p:nvSpPr>
          <p:cNvPr id="5" name="TextBox 4"/>
          <p:cNvSpPr txBox="1"/>
          <p:nvPr/>
        </p:nvSpPr>
        <p:spPr>
          <a:xfrm>
            <a:off x="1280160" y="1417320"/>
            <a:ext cx="9601200" cy="822960"/>
          </a:xfrm>
          <a:prstGeom prst="rect">
            <a:avLst/>
          </a:prstGeom>
          <a:noFill/>
        </p:spPr>
        <p:txBody>
          <a:bodyPr wrap="none">
            <a:spAutoFit/>
          </a:bodyPr>
          <a:lstStyle/>
          <a:p>
            <a:pPr>
              <a:defRPr sz="3400" b="1">
                <a:solidFill>
                  <a:srgbClr val="F8FAFC"/>
                </a:solidFill>
                <a:latin typeface="Segoe UI"/>
              </a:defRPr>
            </a:pPr>
            <a:r>
              <a:t>¡Muchas Gracias por su Atención!</a:t>
            </a:r>
          </a:p>
          <a:p>
            <a:pPr>
              <a:defRPr sz="1600">
                <a:solidFill>
                  <a:srgbClr val="06B6D4"/>
                </a:solidFill>
                <a:latin typeface="Segoe UI"/>
              </a:defRPr>
            </a:pPr>
            <a:r>
              <a:t>Transporte Express — Sistema de Optimización de Rutas (RutaQ)</a:t>
            </a:r>
          </a:p>
        </p:txBody>
      </p:sp>
      <p:sp>
        <p:nvSpPr>
          <p:cNvPr id="6" name="Rounded Rectangle 5"/>
          <p:cNvSpPr/>
          <p:nvPr/>
        </p:nvSpPr>
        <p:spPr>
          <a:xfrm>
            <a:off x="1280160" y="2468880"/>
            <a:ext cx="4754880" cy="3108960"/>
          </a:xfrm>
          <a:prstGeom prst="roundRect">
            <a:avLst/>
          </a:prstGeom>
          <a:solidFill>
            <a:srgbClr val="121926"/>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2606040"/>
            <a:ext cx="4389120" cy="2834640"/>
          </a:xfrm>
          <a:prstGeom prst="rect">
            <a:avLst/>
          </a:prstGeom>
          <a:noFill/>
        </p:spPr>
        <p:txBody>
          <a:bodyPr wrap="square">
            <a:spAutoFit/>
          </a:bodyPr>
          <a:lstStyle/>
          <a:p>
            <a:pPr>
              <a:defRPr sz="1100" b="1">
                <a:solidFill>
                  <a:srgbClr val="F59E0B"/>
                </a:solidFill>
                <a:latin typeface="Segoe UI"/>
              </a:defRPr>
            </a:pPr>
            <a:r>
              <a:t>ACCESO AL SISTEMA Y DOCUMENTACIÓN</a:t>
            </a:r>
          </a:p>
          <a:p>
            <a:pPr>
              <a:defRPr sz="1150">
                <a:solidFill>
                  <a:srgbClr val="E2E8F0"/>
                </a:solidFill>
                <a:latin typeface="Segoe UI"/>
              </a:defRPr>
            </a:pPr>
            <a:r>
              <a:t>Aplicación en Vivo:</a:t>
            </a:r>
            <a:br/>
            <a:r>
              <a:t>https://criss-paz.github.io/rutaq/</a:t>
            </a:r>
          </a:p>
          <a:p>
            <a:pPr>
              <a:defRPr sz="1150">
                <a:solidFill>
                  <a:srgbClr val="E2E8F0"/>
                </a:solidFill>
                <a:latin typeface="Segoe UI"/>
              </a:defRPr>
            </a:pPr>
            <a:r>
              <a:t>Presentación Web:</a:t>
            </a:r>
            <a:br/>
            <a:r>
              <a:t>https://criss-paz.github.io/rutaq/presentacion/</a:t>
            </a:r>
          </a:p>
          <a:p>
            <a:pPr>
              <a:defRPr sz="1150">
                <a:solidFill>
                  <a:srgbClr val="E2E8F0"/>
                </a:solidFill>
                <a:latin typeface="Segoe UI"/>
              </a:defRPr>
            </a:pPr>
            <a:r>
              <a:t>Repositorio GitHub:</a:t>
            </a:r>
            <a:br/>
            <a:r>
              <a:t>https://github.com/Criss-paz/rutaq</a:t>
            </a:r>
          </a:p>
          <a:p>
            <a:pPr>
              <a:defRPr sz="1150">
                <a:solidFill>
                  <a:srgbClr val="E2E8F0"/>
                </a:solidFill>
                <a:latin typeface="Segoe UI"/>
              </a:defRPr>
            </a:pPr>
            <a:r>
              <a:t>Catedrático:</a:t>
            </a:r>
            <a:br/>
            <a:r>
              <a:t>Ing. Samuel Isaac Gómez Moreno</a:t>
            </a:r>
          </a:p>
          <a:p>
            <a:pPr>
              <a:defRPr sz="1150">
                <a:solidFill>
                  <a:srgbClr val="E2E8F0"/>
                </a:solidFill>
                <a:latin typeface="Segoe UI"/>
              </a:defRPr>
            </a:pPr>
            <a:r>
              <a:t>Curso:</a:t>
            </a:r>
            <a:br/>
            <a:r>
              <a:t>Investigación de Operaciones · UMG 2026</a:t>
            </a:r>
          </a:p>
        </p:txBody>
      </p:sp>
      <p:sp>
        <p:nvSpPr>
          <p:cNvPr id="8" name="Rounded Rectangle 7"/>
          <p:cNvSpPr/>
          <p:nvPr/>
        </p:nvSpPr>
        <p:spPr>
          <a:xfrm>
            <a:off x="6309360" y="2468880"/>
            <a:ext cx="4572000" cy="3108960"/>
          </a:xfrm>
          <a:prstGeom prst="roundRect">
            <a:avLst/>
          </a:prstGeom>
          <a:solidFill>
            <a:srgbClr val="121926"/>
          </a:solidFill>
          <a:ln w="1524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89344" y="2569464"/>
            <a:ext cx="3812031" cy="2176272"/>
          </a:xfrm>
          <a:prstGeom prst="roundRect">
            <a:avLst/>
          </a:prstGeom>
          <a:solidFill>
            <a:srgbClr val="18202F"/>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1-modo-presentacion.png"/>
          <p:cNvPicPr>
            <a:picLocks noChangeAspect="1"/>
          </p:cNvPicPr>
          <p:nvPr/>
        </p:nvPicPr>
        <p:blipFill>
          <a:blip r:embed="rId2"/>
          <a:stretch>
            <a:fillRect/>
          </a:stretch>
        </p:blipFill>
        <p:spPr>
          <a:xfrm>
            <a:off x="6725920" y="2606040"/>
            <a:ext cx="3738879" cy="2103120"/>
          </a:xfrm>
          <a:prstGeom prst="rect">
            <a:avLst/>
          </a:prstGeom>
        </p:spPr>
      </p:pic>
      <p:sp>
        <p:nvSpPr>
          <p:cNvPr id="11" name="TextBox 10"/>
          <p:cNvSpPr txBox="1"/>
          <p:nvPr/>
        </p:nvSpPr>
        <p:spPr>
          <a:xfrm>
            <a:off x="6492240" y="4764024"/>
            <a:ext cx="4206240" cy="292608"/>
          </a:xfrm>
          <a:prstGeom prst="rect">
            <a:avLst/>
          </a:prstGeom>
          <a:noFill/>
        </p:spPr>
        <p:txBody>
          <a:bodyPr wrap="square" lIns="0" rIns="0" tIns="0" bIns="0">
            <a:spAutoFit/>
          </a:bodyPr>
          <a:lstStyle/>
          <a:p>
            <a:pPr algn="ctr">
              <a:defRPr sz="950">
                <a:solidFill>
                  <a:srgbClr val="94A3B8"/>
                </a:solidFill>
                <a:latin typeface="Segoe UI"/>
              </a:defRPr>
            </a:pPr>
            <a:r>
              <a:t>RutaQ en Modo Presentación listo para pruebas en vivo</a:t>
            </a:r>
          </a:p>
        </p:txBody>
      </p:sp>
      <p:sp>
        <p:nvSpPr>
          <p:cNvPr id="12" name="TextBox 11"/>
          <p:cNvSpPr txBox="1"/>
          <p:nvPr/>
        </p:nvSpPr>
        <p:spPr>
          <a:xfrm>
            <a:off x="6492240" y="5029200"/>
            <a:ext cx="4206240" cy="502920"/>
          </a:xfrm>
          <a:prstGeom prst="rect">
            <a:avLst/>
          </a:prstGeom>
          <a:noFill/>
        </p:spPr>
        <p:txBody>
          <a:bodyPr wrap="none">
            <a:spAutoFit/>
          </a:bodyPr>
          <a:lstStyle/>
          <a:p>
            <a:pPr algn="ctr">
              <a:defRPr sz="1300" b="1">
                <a:solidFill>
                  <a:srgbClr val="A855F7"/>
                </a:solidFill>
                <a:latin typeface="Segoe UI"/>
              </a:defRPr>
            </a:pPr>
            <a:r>
              <a:t>¿Alguna pregunta o demostración en vivo adicional?</a:t>
            </a:r>
          </a:p>
        </p:txBody>
      </p:sp>
      <p:sp>
        <p:nvSpPr>
          <p:cNvPr id="13" name="TextBox 12"/>
          <p:cNvSpPr txBox="1"/>
          <p:nvPr/>
        </p:nvSpPr>
        <p:spPr>
          <a:xfrm>
            <a:off x="1280160" y="5760720"/>
            <a:ext cx="9601200" cy="365760"/>
          </a:xfrm>
          <a:prstGeom prst="rect">
            <a:avLst/>
          </a:prstGeom>
          <a:noFill/>
        </p:spPr>
        <p:txBody>
          <a:bodyPr wrap="none">
            <a:spAutoFit/>
          </a:bodyPr>
          <a:lstStyle/>
          <a:p>
            <a:pPr algn="ctr">
              <a:defRPr sz="1100">
                <a:solidFill>
                  <a:srgbClr val="94A3B8"/>
                </a:solidFill>
                <a:latin typeface="Segoe UI"/>
              </a:defRPr>
            </a:pPr>
            <a:r>
              <a:t>Cristopher Castellanos (2690-24-5972) · Leonel Taracena (2690-24-4072) · Pablo Vásquez (2690-24-13123)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